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 y="1828800"/>
            <a:ext cx="868680" cy="868680"/>
          </a:xfrm>
          <a:prstGeom prst="round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19"/>
            <a:ext cx="868680" cy="777240"/>
          </a:xfrm>
          <a:prstGeom prst="rect">
            <a:avLst/>
          </a:prstGeom>
          <a:noFill/>
        </p:spPr>
        <p:txBody>
          <a:bodyPr wrap="square" lIns="0" rIns="0" tIns="0" bIns="0" anchor="ctr">
            <a:spAutoFit/>
          </a:bodyPr>
          <a:lstStyle/>
          <a:p>
            <a:pPr algn="ctr">
              <a:lnSpc>
                <a:spcPct val="115000"/>
              </a:lnSpc>
            </a:pPr>
            <a:r>
              <a:rPr sz="4400" b="1" i="0">
                <a:solidFill>
                  <a:srgbClr val="FFFFFF"/>
                </a:solidFill>
                <a:latin typeface="Calibri"/>
              </a:rPr>
              <a:t>M</a:t>
            </a:r>
          </a:p>
        </p:txBody>
      </p:sp>
      <p:sp>
        <p:nvSpPr>
          <p:cNvPr id="5" name="TextBox 4"/>
          <p:cNvSpPr txBox="1"/>
          <p:nvPr/>
        </p:nvSpPr>
        <p:spPr>
          <a:xfrm>
            <a:off x="1920240" y="1828800"/>
            <a:ext cx="9144000" cy="411480"/>
          </a:xfrm>
          <a:prstGeom prst="rect">
            <a:avLst/>
          </a:prstGeom>
          <a:noFill/>
        </p:spPr>
        <p:txBody>
          <a:bodyPr wrap="square" lIns="0" rIns="0" tIns="0" bIns="0" anchor="t">
            <a:spAutoFit/>
          </a:bodyPr>
          <a:lstStyle/>
          <a:p>
            <a:pPr algn="l">
              <a:lnSpc>
                <a:spcPct val="115000"/>
              </a:lnSpc>
            </a:pPr>
            <a:r>
              <a:rPr sz="1400" b="1" i="0">
                <a:solidFill>
                  <a:srgbClr val="0284C7"/>
                </a:solidFill>
                <a:latin typeface="Calibri"/>
              </a:rPr>
              <a:t>MEDCITE</a:t>
            </a:r>
          </a:p>
        </p:txBody>
      </p:sp>
      <p:sp>
        <p:nvSpPr>
          <p:cNvPr id="6" name="TextBox 5"/>
          <p:cNvSpPr txBox="1"/>
          <p:nvPr/>
        </p:nvSpPr>
        <p:spPr>
          <a:xfrm>
            <a:off x="1920240" y="2194560"/>
            <a:ext cx="10058400" cy="1097280"/>
          </a:xfrm>
          <a:prstGeom prst="rect">
            <a:avLst/>
          </a:prstGeom>
          <a:noFill/>
        </p:spPr>
        <p:txBody>
          <a:bodyPr wrap="square" lIns="0" rIns="0" tIns="0" bIns="0" anchor="t">
            <a:spAutoFit/>
          </a:bodyPr>
          <a:lstStyle/>
          <a:p>
            <a:pPr algn="l">
              <a:lnSpc>
                <a:spcPct val="105000"/>
              </a:lnSpc>
            </a:pPr>
            <a:r>
              <a:rPr sz="5400" b="1" i="0">
                <a:solidFill>
                  <a:srgbClr val="0F172A"/>
                </a:solidFill>
                <a:latin typeface="Calibri"/>
              </a:rPr>
              <a:t>Clinical Q&amp;A that</a:t>
            </a:r>
          </a:p>
          <a:p>
            <a:pPr algn="l">
              <a:lnSpc>
                <a:spcPct val="105000"/>
              </a:lnSpc>
            </a:pPr>
            <a:r>
              <a:rPr sz="5400" b="1" i="0">
                <a:solidFill>
                  <a:srgbClr val="0F172A"/>
                </a:solidFill>
                <a:latin typeface="Calibri"/>
              </a:rPr>
              <a:t>never hallucinates.</a:t>
            </a:r>
          </a:p>
        </p:txBody>
      </p:sp>
      <p:sp>
        <p:nvSpPr>
          <p:cNvPr id="7" name="TextBox 6"/>
          <p:cNvSpPr txBox="1"/>
          <p:nvPr/>
        </p:nvSpPr>
        <p:spPr>
          <a:xfrm>
            <a:off x="1920240" y="4206240"/>
            <a:ext cx="9601200" cy="548640"/>
          </a:xfrm>
          <a:prstGeom prst="rect">
            <a:avLst/>
          </a:prstGeom>
          <a:noFill/>
        </p:spPr>
        <p:txBody>
          <a:bodyPr wrap="square" lIns="0" rIns="0" tIns="0" bIns="0" anchor="t">
            <a:spAutoFit/>
          </a:bodyPr>
          <a:lstStyle/>
          <a:p>
            <a:pPr algn="l">
              <a:lnSpc>
                <a:spcPct val="115000"/>
              </a:lnSpc>
            </a:pPr>
            <a:r>
              <a:rPr sz="2200" b="0" i="1">
                <a:solidFill>
                  <a:srgbClr val="64748B"/>
                </a:solidFill>
                <a:latin typeface="Calibri"/>
              </a:rPr>
              <a:t>Cited. Verified. Honest.</a:t>
            </a:r>
          </a:p>
        </p:txBody>
      </p:sp>
      <p:sp>
        <p:nvSpPr>
          <p:cNvPr id="8" name="Rectangle 7"/>
          <p:cNvSpPr/>
          <p:nvPr/>
        </p:nvSpPr>
        <p:spPr>
          <a:xfrm>
            <a:off x="1920240" y="5120640"/>
            <a:ext cx="9601200" cy="3657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5257800"/>
            <a:ext cx="9601200" cy="365760"/>
          </a:xfrm>
          <a:prstGeom prst="rect">
            <a:avLst/>
          </a:prstGeom>
          <a:noFill/>
        </p:spPr>
        <p:txBody>
          <a:bodyPr wrap="square" lIns="0" rIns="0" tIns="0" bIns="0" anchor="t">
            <a:spAutoFit/>
          </a:bodyPr>
          <a:lstStyle/>
          <a:p>
            <a:pPr algn="l">
              <a:lnSpc>
                <a:spcPct val="115000"/>
              </a:lnSpc>
            </a:pPr>
            <a:r>
              <a:rPr sz="1400" b="0" i="0">
                <a:solidFill>
                  <a:srgbClr val="64748B"/>
                </a:solidFill>
                <a:latin typeface="Calibri"/>
              </a:rPr>
              <a:t>Jubilant Pharma Hackathon  ·  3-day build  ·  1 person</a:t>
            </a:r>
          </a:p>
        </p:txBody>
      </p:sp>
      <p:sp>
        <p:nvSpPr>
          <p:cNvPr id="10" name="TextBox 9"/>
          <p:cNvSpPr txBox="1"/>
          <p:nvPr/>
        </p:nvSpPr>
        <p:spPr>
          <a:xfrm>
            <a:off x="1920240" y="5623560"/>
            <a:ext cx="9601200" cy="365760"/>
          </a:xfrm>
          <a:prstGeom prst="rect">
            <a:avLst/>
          </a:prstGeom>
          <a:noFill/>
        </p:spPr>
        <p:txBody>
          <a:bodyPr wrap="square" lIns="0" rIns="0" tIns="0" bIns="0" anchor="t">
            <a:spAutoFit/>
          </a:bodyPr>
          <a:lstStyle/>
          <a:p>
            <a:pPr algn="l">
              <a:lnSpc>
                <a:spcPct val="115000"/>
              </a:lnSpc>
            </a:pPr>
            <a:r>
              <a:rPr sz="1400" b="1" i="0">
                <a:solidFill>
                  <a:srgbClr val="0284C7"/>
                </a:solidFill>
                <a:latin typeface="Calibri"/>
              </a:rPr>
              <a:t>https://abhi04-medcite.vercel.app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64592"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7315200" cy="292608"/>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THE PROBLEM</a:t>
            </a:r>
          </a:p>
        </p:txBody>
      </p:sp>
      <p:sp>
        <p:nvSpPr>
          <p:cNvPr id="4" name="TextBox 3"/>
          <p:cNvSpPr txBox="1"/>
          <p:nvPr/>
        </p:nvSpPr>
        <p:spPr>
          <a:xfrm>
            <a:off x="868680" y="777240"/>
            <a:ext cx="10515600" cy="640080"/>
          </a:xfrm>
          <a:prstGeom prst="rect">
            <a:avLst/>
          </a:prstGeom>
          <a:noFill/>
        </p:spPr>
        <p:txBody>
          <a:bodyPr wrap="square" lIns="0" rIns="0" tIns="0" bIns="0" anchor="t">
            <a:spAutoFit/>
          </a:bodyPr>
          <a:lstStyle/>
          <a:p>
            <a:pPr algn="l">
              <a:lnSpc>
                <a:spcPct val="115000"/>
              </a:lnSpc>
            </a:pPr>
            <a:r>
              <a:rPr sz="3200" b="1" i="0">
                <a:solidFill>
                  <a:srgbClr val="0F172A"/>
                </a:solidFill>
                <a:latin typeface="Calibri"/>
              </a:rPr>
              <a:t>Doctors need answers they can trust.</a:t>
            </a:r>
          </a:p>
        </p:txBody>
      </p:sp>
      <p:sp>
        <p:nvSpPr>
          <p:cNvPr id="5" name="TextBox 4"/>
          <p:cNvSpPr txBox="1"/>
          <p:nvPr/>
        </p:nvSpPr>
        <p:spPr>
          <a:xfrm>
            <a:off x="868680" y="1783080"/>
            <a:ext cx="10515600" cy="4114800"/>
          </a:xfrm>
          <a:prstGeom prst="rect">
            <a:avLst/>
          </a:prstGeom>
          <a:noFill/>
        </p:spPr>
        <p:txBody>
          <a:bodyPr wrap="square" lIns="0" rIns="0" tIns="0" bIns="0">
            <a:spAutoFit/>
          </a:bodyPr>
          <a:lstStyle/>
          <a:p>
            <a:pPr>
              <a:lnSpc>
                <a:spcPct val="150000"/>
              </a:lnSpc>
              <a:spcAft>
                <a:spcPts val="600"/>
              </a:spcAft>
            </a:pPr>
            <a:r>
              <a:rPr sz="2000" b="1">
                <a:solidFill>
                  <a:srgbClr val="0284C7"/>
                </a:solidFill>
                <a:latin typeface="Calibri"/>
              </a:rPr>
              <a:t>•  </a:t>
            </a:r>
            <a:r>
              <a:rPr sz="2000" b="1">
                <a:solidFill>
                  <a:srgbClr val="0F172A"/>
                </a:solidFill>
                <a:latin typeface="Calibri"/>
              </a:rPr>
              <a:t>Time-starved.  </a:t>
            </a:r>
            <a:r>
              <a:rPr sz="2000">
                <a:solidFill>
                  <a:srgbClr val="0F172A"/>
                </a:solidFill>
                <a:latin typeface="Calibri"/>
              </a:rPr>
              <a:t>Doctors need fast, trustworthy medical answers at the point of care.</a:t>
            </a:r>
          </a:p>
          <a:p>
            <a:pPr>
              <a:lnSpc>
                <a:spcPct val="150000"/>
              </a:lnSpc>
              <a:spcAft>
                <a:spcPts val="600"/>
              </a:spcAft>
            </a:pPr>
            <a:r>
              <a:rPr sz="2000" b="1">
                <a:solidFill>
                  <a:srgbClr val="0284C7"/>
                </a:solidFill>
                <a:latin typeface="Calibri"/>
              </a:rPr>
              <a:t>•  </a:t>
            </a:r>
            <a:r>
              <a:rPr sz="2000" b="1">
                <a:solidFill>
                  <a:srgbClr val="0F172A"/>
                </a:solidFill>
                <a:latin typeface="Calibri"/>
              </a:rPr>
              <a:t>ChatGPT hallucinates citations.  </a:t>
            </a:r>
            <a:r>
              <a:rPr sz="2000">
                <a:solidFill>
                  <a:srgbClr val="0F172A"/>
                </a:solidFill>
                <a:latin typeface="Calibri"/>
              </a:rPr>
              <a:t>Fake DOIs, made-up authors, papers that don't exist. Documented and unsafe.</a:t>
            </a:r>
          </a:p>
          <a:p>
            <a:pPr>
              <a:lnSpc>
                <a:spcPct val="150000"/>
              </a:lnSpc>
              <a:spcAft>
                <a:spcPts val="600"/>
              </a:spcAft>
            </a:pPr>
            <a:r>
              <a:rPr sz="2000" b="1">
                <a:solidFill>
                  <a:srgbClr val="0284C7"/>
                </a:solidFill>
                <a:latin typeface="Calibri"/>
              </a:rPr>
              <a:t>•  </a:t>
            </a:r>
            <a:r>
              <a:rPr sz="2000" b="1">
                <a:solidFill>
                  <a:srgbClr val="0F172A"/>
                </a:solidFill>
                <a:latin typeface="Calibri"/>
              </a:rPr>
              <a:t>PubMed isn't a tool.  </a:t>
            </a:r>
            <a:r>
              <a:rPr sz="2000">
                <a:solidFill>
                  <a:srgbClr val="0F172A"/>
                </a:solidFill>
                <a:latin typeface="Calibri"/>
              </a:rPr>
              <a:t>200 raw results, no synthesis — doctors have to read everything themselves.</a:t>
            </a:r>
          </a:p>
          <a:p>
            <a:pPr>
              <a:lnSpc>
                <a:spcPct val="150000"/>
              </a:lnSpc>
              <a:spcAft>
                <a:spcPts val="600"/>
              </a:spcAft>
            </a:pPr>
            <a:r>
              <a:rPr sz="2000" b="1">
                <a:solidFill>
                  <a:srgbClr val="0284C7"/>
                </a:solidFill>
                <a:latin typeface="Calibri"/>
              </a:rPr>
              <a:t>•  </a:t>
            </a:r>
            <a:r>
              <a:rPr sz="2000" b="1">
                <a:solidFill>
                  <a:srgbClr val="0F172A"/>
                </a:solidFill>
                <a:latin typeface="Calibri"/>
              </a:rPr>
              <a:t>"AI doctor" tools are chatbots.  </a:t>
            </a:r>
            <a:r>
              <a:rPr sz="2000">
                <a:solidFill>
                  <a:srgbClr val="0F172A"/>
                </a:solidFill>
                <a:latin typeface="Calibri"/>
              </a:rPr>
              <a:t>Optimized for engagement. Doctors don't want a conversation.</a:t>
            </a:r>
          </a:p>
        </p:txBody>
      </p:sp>
      <p:sp>
        <p:nvSpPr>
          <p:cNvPr id="6" name="Rectangle 5"/>
          <p:cNvSpPr/>
          <p:nvPr/>
        </p:nvSpPr>
        <p:spPr>
          <a:xfrm>
            <a:off x="868680" y="5212080"/>
            <a:ext cx="10515600" cy="1051560"/>
          </a:xfrm>
          <a:prstGeom prst="rect">
            <a:avLst/>
          </a:prstGeom>
          <a:solidFill>
            <a:srgbClr val="F8FAFC"/>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5349240"/>
            <a:ext cx="457200" cy="777240"/>
          </a:xfrm>
          <a:prstGeom prst="rect">
            <a:avLst/>
          </a:prstGeom>
          <a:noFill/>
        </p:spPr>
        <p:txBody>
          <a:bodyPr wrap="square" lIns="0" rIns="0" tIns="0" bIns="0" anchor="ctr">
            <a:spAutoFit/>
          </a:bodyPr>
          <a:lstStyle/>
          <a:p>
            <a:pPr algn="l">
              <a:lnSpc>
                <a:spcPct val="115000"/>
              </a:lnSpc>
            </a:pPr>
            <a:r>
              <a:rPr sz="3200" b="1" i="0">
                <a:solidFill>
                  <a:srgbClr val="0284C7"/>
                </a:solidFill>
                <a:latin typeface="Calibri"/>
              </a:rPr>
              <a:t>→</a:t>
            </a:r>
          </a:p>
        </p:txBody>
      </p:sp>
      <p:sp>
        <p:nvSpPr>
          <p:cNvPr id="8" name="TextBox 7"/>
          <p:cNvSpPr txBox="1"/>
          <p:nvPr/>
        </p:nvSpPr>
        <p:spPr>
          <a:xfrm>
            <a:off x="1691640" y="5349240"/>
            <a:ext cx="9509760" cy="365760"/>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THE GAP</a:t>
            </a:r>
          </a:p>
        </p:txBody>
      </p:sp>
      <p:sp>
        <p:nvSpPr>
          <p:cNvPr id="9" name="TextBox 8"/>
          <p:cNvSpPr txBox="1"/>
          <p:nvPr/>
        </p:nvSpPr>
        <p:spPr>
          <a:xfrm>
            <a:off x="1691640" y="5650992"/>
            <a:ext cx="9509760" cy="548640"/>
          </a:xfrm>
          <a:prstGeom prst="rect">
            <a:avLst/>
          </a:prstGeom>
          <a:noFill/>
        </p:spPr>
        <p:txBody>
          <a:bodyPr wrap="square" lIns="0" rIns="0" tIns="0" bIns="0" anchor="t">
            <a:spAutoFit/>
          </a:bodyPr>
          <a:lstStyle/>
          <a:p>
            <a:pPr algn="l">
              <a:lnSpc>
                <a:spcPct val="115000"/>
              </a:lnSpc>
            </a:pPr>
            <a:r>
              <a:rPr sz="1600" b="1" i="0">
                <a:solidFill>
                  <a:srgbClr val="0F172A"/>
                </a:solidFill>
                <a:latin typeface="Calibri"/>
              </a:rPr>
              <a:t>No product combines LLM speed and synthesis with the auditability of a real literature search.</a:t>
            </a:r>
          </a:p>
        </p:txBody>
      </p:sp>
      <p:sp>
        <p:nvSpPr>
          <p:cNvPr id="10" name="Rectangle 9"/>
          <p:cNvSpPr/>
          <p:nvPr/>
        </p:nvSpPr>
        <p:spPr>
          <a:xfrm>
            <a:off x="0" y="6565392"/>
            <a:ext cx="12191695"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01968"/>
            <a:ext cx="7315200" cy="274320"/>
          </a:xfrm>
          <a:prstGeom prst="rect">
            <a:avLst/>
          </a:prstGeom>
          <a:noFill/>
        </p:spPr>
        <p:txBody>
          <a:bodyPr wrap="square" lIns="0" rIns="0" tIns="0" bIns="0" anchor="t">
            <a:spAutoFit/>
          </a:bodyPr>
          <a:lstStyle/>
          <a:p>
            <a:pPr algn="l">
              <a:lnSpc>
                <a:spcPct val="115000"/>
              </a:lnSpc>
            </a:pPr>
            <a:r>
              <a:rPr sz="1000" b="0" i="0">
                <a:solidFill>
                  <a:srgbClr val="64748B"/>
                </a:solidFill>
                <a:latin typeface="Calibri"/>
              </a:rPr>
              <a:t>MedCite  ·  Jubilant Pharma Hackathon  ·  abhi04-medcite.vercel.app</a:t>
            </a:r>
          </a:p>
        </p:txBody>
      </p:sp>
      <p:sp>
        <p:nvSpPr>
          <p:cNvPr id="12" name="TextBox 11"/>
          <p:cNvSpPr txBox="1"/>
          <p:nvPr/>
        </p:nvSpPr>
        <p:spPr>
          <a:xfrm>
            <a:off x="9601200" y="6601968"/>
            <a:ext cx="2103120" cy="274320"/>
          </a:xfrm>
          <a:prstGeom prst="rect">
            <a:avLst/>
          </a:prstGeom>
          <a:noFill/>
        </p:spPr>
        <p:txBody>
          <a:bodyPr wrap="square" lIns="0" rIns="0" tIns="0" bIns="0" anchor="t">
            <a:spAutoFit/>
          </a:bodyPr>
          <a:lstStyle/>
          <a:p>
            <a:pPr algn="r">
              <a:lnSpc>
                <a:spcPct val="115000"/>
              </a:lnSpc>
            </a:pPr>
            <a:r>
              <a:rPr sz="1000" b="0" i="0">
                <a:solidFill>
                  <a:srgbClr val="64748B"/>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64592"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7315200" cy="292608"/>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WHAT WE BUILT</a:t>
            </a:r>
          </a:p>
        </p:txBody>
      </p:sp>
      <p:sp>
        <p:nvSpPr>
          <p:cNvPr id="4" name="TextBox 3"/>
          <p:cNvSpPr txBox="1"/>
          <p:nvPr/>
        </p:nvSpPr>
        <p:spPr>
          <a:xfrm>
            <a:off x="868680" y="777240"/>
            <a:ext cx="10515600" cy="640080"/>
          </a:xfrm>
          <a:prstGeom prst="rect">
            <a:avLst/>
          </a:prstGeom>
          <a:noFill/>
        </p:spPr>
        <p:txBody>
          <a:bodyPr wrap="square" lIns="0" rIns="0" tIns="0" bIns="0" anchor="t">
            <a:spAutoFit/>
          </a:bodyPr>
          <a:lstStyle/>
          <a:p>
            <a:pPr algn="l">
              <a:lnSpc>
                <a:spcPct val="115000"/>
              </a:lnSpc>
            </a:pPr>
            <a:r>
              <a:rPr sz="3200" b="1" i="0">
                <a:solidFill>
                  <a:srgbClr val="0F172A"/>
                </a:solidFill>
                <a:latin typeface="Calibri"/>
              </a:rPr>
              <a:t>One question. One cited answer card. Three seconds.</a:t>
            </a:r>
          </a:p>
        </p:txBody>
      </p:sp>
      <p:sp>
        <p:nvSpPr>
          <p:cNvPr id="5" name="TextBox 4"/>
          <p:cNvSpPr txBox="1"/>
          <p:nvPr/>
        </p:nvSpPr>
        <p:spPr>
          <a:xfrm>
            <a:off x="868680" y="1783080"/>
            <a:ext cx="5486400" cy="4754880"/>
          </a:xfrm>
          <a:prstGeom prst="rect">
            <a:avLst/>
          </a:prstGeom>
          <a:noFill/>
        </p:spPr>
        <p:txBody>
          <a:bodyPr wrap="square" lIns="0" rIns="0" tIns="0" bIns="0">
            <a:spAutoFit/>
          </a:bodyPr>
          <a:lstStyle/>
          <a:p>
            <a:pPr>
              <a:lnSpc>
                <a:spcPct val="150000"/>
              </a:lnSpc>
              <a:spcAft>
                <a:spcPts val="600"/>
              </a:spcAft>
            </a:pPr>
            <a:r>
              <a:rPr sz="1600" b="1">
                <a:solidFill>
                  <a:srgbClr val="0284C7"/>
                </a:solidFill>
                <a:latin typeface="Calibri"/>
              </a:rPr>
              <a:t>•  </a:t>
            </a:r>
            <a:r>
              <a:rPr sz="1600" b="1">
                <a:solidFill>
                  <a:srgbClr val="0F172A"/>
                </a:solidFill>
                <a:latin typeface="Calibri"/>
              </a:rPr>
              <a:t>2–4 sentence answer  </a:t>
            </a:r>
            <a:r>
              <a:rPr sz="1600">
                <a:solidFill>
                  <a:srgbClr val="0F172A"/>
                </a:solidFill>
                <a:latin typeface="Calibri"/>
              </a:rPr>
              <a:t>every claim tagged [1] [2] [3]</a:t>
            </a:r>
          </a:p>
          <a:p>
            <a:pPr>
              <a:lnSpc>
                <a:spcPct val="150000"/>
              </a:lnSpc>
              <a:spcAft>
                <a:spcPts val="600"/>
              </a:spcAft>
            </a:pPr>
            <a:r>
              <a:rPr sz="1600" b="1">
                <a:solidFill>
                  <a:srgbClr val="0284C7"/>
                </a:solidFill>
                <a:latin typeface="Calibri"/>
              </a:rPr>
              <a:t>•  </a:t>
            </a:r>
            <a:r>
              <a:rPr sz="1600" b="1">
                <a:solidFill>
                  <a:srgbClr val="0F172A"/>
                </a:solidFill>
                <a:latin typeface="Calibri"/>
              </a:rPr>
              <a:t>5 source cards  </a:t>
            </a:r>
            <a:r>
              <a:rPr sz="1600">
                <a:solidFill>
                  <a:srgbClr val="0F172A"/>
                </a:solidFill>
                <a:latin typeface="Calibri"/>
              </a:rPr>
              <a:t>title, journal, year, authors, evidence-level badge</a:t>
            </a:r>
          </a:p>
          <a:p>
            <a:pPr>
              <a:lnSpc>
                <a:spcPct val="150000"/>
              </a:lnSpc>
              <a:spcAft>
                <a:spcPts val="600"/>
              </a:spcAft>
            </a:pPr>
            <a:r>
              <a:rPr sz="1600" b="1">
                <a:solidFill>
                  <a:srgbClr val="0284C7"/>
                </a:solidFill>
                <a:latin typeface="Calibri"/>
              </a:rPr>
              <a:t>•  </a:t>
            </a:r>
            <a:r>
              <a:rPr sz="1600" b="1">
                <a:solidFill>
                  <a:srgbClr val="0F172A"/>
                </a:solidFill>
                <a:latin typeface="Calibri"/>
              </a:rPr>
              <a:t>Quoted passage  </a:t>
            </a:r>
            <a:r>
              <a:rPr sz="1600">
                <a:solidFill>
                  <a:srgbClr val="0F172A"/>
                </a:solidFill>
                <a:latin typeface="Calibri"/>
              </a:rPr>
              <a:t>the exact chunk the LLM read — verify at a glance</a:t>
            </a:r>
          </a:p>
          <a:p>
            <a:pPr>
              <a:lnSpc>
                <a:spcPct val="150000"/>
              </a:lnSpc>
              <a:spcAft>
                <a:spcPts val="600"/>
              </a:spcAft>
            </a:pPr>
            <a:r>
              <a:rPr sz="1600" b="1">
                <a:solidFill>
                  <a:srgbClr val="0284C7"/>
                </a:solidFill>
                <a:latin typeface="Calibri"/>
              </a:rPr>
              <a:t>•  </a:t>
            </a:r>
            <a:r>
              <a:rPr sz="1600" b="1">
                <a:solidFill>
                  <a:srgbClr val="0F172A"/>
                </a:solidFill>
                <a:latin typeface="Calibri"/>
              </a:rPr>
              <a:t>Clickable PubMed + DOI  </a:t>
            </a:r>
            <a:r>
              <a:rPr sz="1600">
                <a:solidFill>
                  <a:srgbClr val="0F172A"/>
                </a:solidFill>
                <a:latin typeface="Calibri"/>
              </a:rPr>
              <a:t>real URLs, stitched from PMIDs (LLM never writes them)</a:t>
            </a:r>
          </a:p>
          <a:p>
            <a:pPr>
              <a:lnSpc>
                <a:spcPct val="150000"/>
              </a:lnSpc>
              <a:spcAft>
                <a:spcPts val="600"/>
              </a:spcAft>
            </a:pPr>
            <a:r>
              <a:rPr sz="1600" b="1">
                <a:solidFill>
                  <a:srgbClr val="0284C7"/>
                </a:solidFill>
                <a:latin typeface="Calibri"/>
              </a:rPr>
              <a:t>•  </a:t>
            </a:r>
            <a:r>
              <a:rPr sz="1600" b="1">
                <a:solidFill>
                  <a:srgbClr val="0F172A"/>
                </a:solidFill>
                <a:latin typeface="Calibri"/>
              </a:rPr>
              <a:t>Confidence meter  </a:t>
            </a:r>
            <a:r>
              <a:rPr sz="1600">
                <a:solidFill>
                  <a:srgbClr val="0F172A"/>
                </a:solidFill>
                <a:latin typeface="Calibri"/>
              </a:rPr>
              <a:t>green ≥ 0.75, otherwise abstain</a:t>
            </a:r>
          </a:p>
          <a:p>
            <a:pPr>
              <a:lnSpc>
                <a:spcPct val="150000"/>
              </a:lnSpc>
              <a:spcAft>
                <a:spcPts val="600"/>
              </a:spcAft>
            </a:pPr>
            <a:r>
              <a:rPr sz="1600" b="1">
                <a:solidFill>
                  <a:srgbClr val="0284C7"/>
                </a:solidFill>
                <a:latin typeface="Calibri"/>
              </a:rPr>
              <a:t>•  </a:t>
            </a:r>
            <a:r>
              <a:rPr sz="1600" b="1">
                <a:solidFill>
                  <a:srgbClr val="0F172A"/>
                </a:solidFill>
                <a:latin typeface="Calibri"/>
              </a:rPr>
              <a:t>"Verified KB" badge  </a:t>
            </a:r>
            <a:r>
              <a:rPr sz="1600">
                <a:solidFill>
                  <a:srgbClr val="0F172A"/>
                </a:solidFill>
                <a:latin typeface="Calibri"/>
              </a:rPr>
              <a:t>or "Live multi-AI" if escalated to PubMed</a:t>
            </a:r>
          </a:p>
        </p:txBody>
      </p:sp>
      <p:sp>
        <p:nvSpPr>
          <p:cNvPr id="6" name="Rectangle 5"/>
          <p:cNvSpPr/>
          <p:nvPr/>
        </p:nvSpPr>
        <p:spPr>
          <a:xfrm>
            <a:off x="6583680" y="1783080"/>
            <a:ext cx="5029200" cy="420624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2148840"/>
            <a:ext cx="5029200" cy="457200"/>
          </a:xfrm>
          <a:prstGeom prst="rect">
            <a:avLst/>
          </a:prstGeom>
          <a:noFill/>
        </p:spPr>
        <p:txBody>
          <a:bodyPr wrap="square" lIns="0" rIns="0" tIns="0" bIns="0" anchor="t">
            <a:spAutoFit/>
          </a:bodyPr>
          <a:lstStyle/>
          <a:p>
            <a:pPr algn="ctr">
              <a:lnSpc>
                <a:spcPct val="115000"/>
              </a:lnSpc>
            </a:pPr>
            <a:r>
              <a:rPr sz="1400" b="1" i="0">
                <a:solidFill>
                  <a:srgbClr val="64748B"/>
                </a:solidFill>
                <a:latin typeface="Calibri"/>
              </a:rPr>
              <a:t>[ screenshot ]</a:t>
            </a:r>
          </a:p>
        </p:txBody>
      </p:sp>
      <p:sp>
        <p:nvSpPr>
          <p:cNvPr id="8" name="TextBox 7"/>
          <p:cNvSpPr txBox="1"/>
          <p:nvPr/>
        </p:nvSpPr>
        <p:spPr>
          <a:xfrm>
            <a:off x="6858000" y="2697480"/>
            <a:ext cx="4480560" cy="1280160"/>
          </a:xfrm>
          <a:prstGeom prst="rect">
            <a:avLst/>
          </a:prstGeom>
          <a:noFill/>
        </p:spPr>
        <p:txBody>
          <a:bodyPr wrap="square" lIns="0" rIns="0" tIns="0" bIns="0" anchor="t">
            <a:spAutoFit/>
          </a:bodyPr>
          <a:lstStyle/>
          <a:p>
            <a:pPr algn="ctr">
              <a:lnSpc>
                <a:spcPct val="140000"/>
              </a:lnSpc>
            </a:pPr>
            <a:r>
              <a:rPr sz="1100" b="0" i="0">
                <a:solidFill>
                  <a:srgbClr val="64748B"/>
                </a:solidFill>
                <a:latin typeface="Calibri"/>
              </a:rPr>
              <a:t>Drop file at:</a:t>
            </a:r>
          </a:p>
          <a:p>
            <a:pPr algn="ctr">
              <a:lnSpc>
                <a:spcPct val="140000"/>
              </a:lnSpc>
            </a:pPr>
            <a:r>
              <a:rPr sz="1100" b="0" i="0">
                <a:solidFill>
                  <a:srgbClr val="64748B"/>
                </a:solidFill>
                <a:latin typeface="Calibri"/>
              </a:rPr>
              <a:t>deck/screenshots/hero2-empagliflozin.png</a:t>
            </a:r>
          </a:p>
          <a:p>
            <a:pPr algn="ctr">
              <a:lnSpc>
                <a:spcPct val="140000"/>
              </a:lnSpc>
            </a:pPr>
            <a:r>
              <a:rPr sz="1100" b="0" i="0">
                <a:solidFill>
                  <a:srgbClr val="64748B"/>
                </a:solidFill>
                <a:latin typeface="Calibri"/>
              </a:rPr>
              <a:t/>
            </a:r>
          </a:p>
          <a:p>
            <a:pPr algn="ctr">
              <a:lnSpc>
                <a:spcPct val="140000"/>
              </a:lnSpc>
            </a:pPr>
            <a:r>
              <a:rPr sz="1100" b="0" i="0">
                <a:solidFill>
                  <a:srgbClr val="64748B"/>
                </a:solidFill>
                <a:latin typeface="Calibri"/>
              </a:rPr>
              <a:t>Open https://abhi04-medcite.vercel.app, click hero #2 (empagliflozin / HFpEF), wait for the answer card with RCT + Review badges, screenshot the answer + first 2 source cards.</a:t>
            </a:r>
          </a:p>
        </p:txBody>
      </p:sp>
      <p:sp>
        <p:nvSpPr>
          <p:cNvPr id="9" name="TextBox 8"/>
          <p:cNvSpPr txBox="1"/>
          <p:nvPr/>
        </p:nvSpPr>
        <p:spPr>
          <a:xfrm>
            <a:off x="6583680" y="6080760"/>
            <a:ext cx="5029200" cy="365760"/>
          </a:xfrm>
          <a:prstGeom prst="rect">
            <a:avLst/>
          </a:prstGeom>
          <a:noFill/>
        </p:spPr>
        <p:txBody>
          <a:bodyPr wrap="square" lIns="0" rIns="0" tIns="0" bIns="0" anchor="t">
            <a:spAutoFit/>
          </a:bodyPr>
          <a:lstStyle/>
          <a:p>
            <a:pPr algn="ctr">
              <a:lnSpc>
                <a:spcPct val="115000"/>
              </a:lnSpc>
            </a:pPr>
            <a:r>
              <a:rPr sz="1000" b="0" i="1">
                <a:solidFill>
                  <a:srgbClr val="64748B"/>
                </a:solidFill>
                <a:latin typeface="Calibri"/>
              </a:rPr>
              <a:t>Hero query #2 — empagliflozin in HFpEF  ·  Tier-1 cache hit  ·  conf 0.80</a:t>
            </a:r>
          </a:p>
        </p:txBody>
      </p:sp>
      <p:sp>
        <p:nvSpPr>
          <p:cNvPr id="10" name="Rectangle 9"/>
          <p:cNvSpPr/>
          <p:nvPr/>
        </p:nvSpPr>
        <p:spPr>
          <a:xfrm>
            <a:off x="0" y="6565392"/>
            <a:ext cx="12191695"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01968"/>
            <a:ext cx="7315200" cy="274320"/>
          </a:xfrm>
          <a:prstGeom prst="rect">
            <a:avLst/>
          </a:prstGeom>
          <a:noFill/>
        </p:spPr>
        <p:txBody>
          <a:bodyPr wrap="square" lIns="0" rIns="0" tIns="0" bIns="0" anchor="t">
            <a:spAutoFit/>
          </a:bodyPr>
          <a:lstStyle/>
          <a:p>
            <a:pPr algn="l">
              <a:lnSpc>
                <a:spcPct val="115000"/>
              </a:lnSpc>
            </a:pPr>
            <a:r>
              <a:rPr sz="1000" b="0" i="0">
                <a:solidFill>
                  <a:srgbClr val="64748B"/>
                </a:solidFill>
                <a:latin typeface="Calibri"/>
              </a:rPr>
              <a:t>MedCite  ·  Jubilant Pharma Hackathon  ·  abhi04-medcite.vercel.app</a:t>
            </a:r>
          </a:p>
        </p:txBody>
      </p:sp>
      <p:sp>
        <p:nvSpPr>
          <p:cNvPr id="12" name="TextBox 11"/>
          <p:cNvSpPr txBox="1"/>
          <p:nvPr/>
        </p:nvSpPr>
        <p:spPr>
          <a:xfrm>
            <a:off x="9601200" y="6601968"/>
            <a:ext cx="2103120" cy="274320"/>
          </a:xfrm>
          <a:prstGeom prst="rect">
            <a:avLst/>
          </a:prstGeom>
          <a:noFill/>
        </p:spPr>
        <p:txBody>
          <a:bodyPr wrap="square" lIns="0" rIns="0" tIns="0" bIns="0" anchor="t">
            <a:spAutoFit/>
          </a:bodyPr>
          <a:lstStyle/>
          <a:p>
            <a:pPr algn="r">
              <a:lnSpc>
                <a:spcPct val="115000"/>
              </a:lnSpc>
            </a:pPr>
            <a:r>
              <a:rPr sz="1000" b="0" i="0">
                <a:solidFill>
                  <a:srgbClr val="64748B"/>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64592"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7315200" cy="292608"/>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THE TRUST PITCH</a:t>
            </a:r>
          </a:p>
        </p:txBody>
      </p:sp>
      <p:sp>
        <p:nvSpPr>
          <p:cNvPr id="4" name="TextBox 3"/>
          <p:cNvSpPr txBox="1"/>
          <p:nvPr/>
        </p:nvSpPr>
        <p:spPr>
          <a:xfrm>
            <a:off x="868680" y="777240"/>
            <a:ext cx="10515600" cy="640080"/>
          </a:xfrm>
          <a:prstGeom prst="rect">
            <a:avLst/>
          </a:prstGeom>
          <a:noFill/>
        </p:spPr>
        <p:txBody>
          <a:bodyPr wrap="square" lIns="0" rIns="0" tIns="0" bIns="0" anchor="t">
            <a:spAutoFit/>
          </a:bodyPr>
          <a:lstStyle/>
          <a:p>
            <a:pPr algn="l">
              <a:lnSpc>
                <a:spcPct val="115000"/>
              </a:lnSpc>
            </a:pPr>
            <a:r>
              <a:rPr sz="3200" b="1" i="0">
                <a:solidFill>
                  <a:srgbClr val="0F172A"/>
                </a:solidFill>
                <a:latin typeface="Calibri"/>
              </a:rPr>
              <a:t>The whole pitch in four sentences.</a:t>
            </a:r>
          </a:p>
        </p:txBody>
      </p:sp>
      <p:sp>
        <p:nvSpPr>
          <p:cNvPr id="5" name="Rectangle 4"/>
          <p:cNvSpPr/>
          <p:nvPr/>
        </p:nvSpPr>
        <p:spPr>
          <a:xfrm>
            <a:off x="868680" y="1783080"/>
            <a:ext cx="10515600" cy="4206240"/>
          </a:xfrm>
          <a:prstGeom prst="rect">
            <a:avLst/>
          </a:prstGeom>
          <a:solidFill>
            <a:srgbClr val="F8FAFC"/>
          </a:solidFill>
          <a:ln w="952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91640"/>
            <a:ext cx="731520" cy="914400"/>
          </a:xfrm>
          <a:prstGeom prst="rect">
            <a:avLst/>
          </a:prstGeom>
          <a:noFill/>
        </p:spPr>
        <p:txBody>
          <a:bodyPr wrap="square" lIns="0" rIns="0" tIns="0" bIns="0" anchor="t">
            <a:spAutoFit/>
          </a:bodyPr>
          <a:lstStyle/>
          <a:p>
            <a:pPr algn="l">
              <a:lnSpc>
                <a:spcPct val="115000"/>
              </a:lnSpc>
            </a:pPr>
            <a:r>
              <a:rPr sz="8000" b="1" i="0">
                <a:solidFill>
                  <a:srgbClr val="0284C7"/>
                </a:solidFill>
                <a:latin typeface="Calibri"/>
              </a:rPr>
              <a:t>“</a:t>
            </a:r>
          </a:p>
        </p:txBody>
      </p:sp>
      <p:sp>
        <p:nvSpPr>
          <p:cNvPr id="7" name="TextBox 6"/>
          <p:cNvSpPr txBox="1"/>
          <p:nvPr/>
        </p:nvSpPr>
        <p:spPr>
          <a:xfrm>
            <a:off x="1371600" y="2331720"/>
            <a:ext cx="9601200" cy="3291840"/>
          </a:xfrm>
          <a:prstGeom prst="rect">
            <a:avLst/>
          </a:prstGeom>
          <a:noFill/>
        </p:spPr>
        <p:txBody>
          <a:bodyPr wrap="square" lIns="0" rIns="0" tIns="0" bIns="0" anchor="t">
            <a:spAutoFit/>
          </a:bodyPr>
          <a:lstStyle/>
          <a:p>
            <a:pPr algn="l">
              <a:lnSpc>
                <a:spcPct val="145000"/>
              </a:lnSpc>
            </a:pPr>
            <a:r>
              <a:rPr sz="2000" b="0" i="0">
                <a:solidFill>
                  <a:srgbClr val="0F172A"/>
                </a:solidFill>
                <a:latin typeface="Calibri"/>
              </a:rPr>
              <a:t>Every other AI tool starts with the LLM and asks it to remember sources.</a:t>
            </a:r>
          </a:p>
          <a:p>
            <a:pPr algn="l">
              <a:lnSpc>
                <a:spcPct val="145000"/>
              </a:lnSpc>
            </a:pPr>
            <a:r>
              <a:rPr sz="2000" b="0" i="0">
                <a:solidFill>
                  <a:srgbClr val="0F172A"/>
                </a:solidFill>
                <a:latin typeface="Calibri"/>
              </a:rPr>
              <a:t>We start with PubMed and ask the LLM to summarize what's actually there.</a:t>
            </a:r>
          </a:p>
          <a:p>
            <a:pPr algn="l">
              <a:lnSpc>
                <a:spcPct val="145000"/>
              </a:lnSpc>
            </a:pPr>
            <a:r>
              <a:rPr sz="2000" b="0" i="0">
                <a:solidFill>
                  <a:srgbClr val="0F172A"/>
                </a:solidFill>
                <a:latin typeface="Calibri"/>
              </a:rPr>
              <a:t>The LLM is never allowed to invent a citation, never allowed to answer from</a:t>
            </a:r>
          </a:p>
          <a:p>
            <a:pPr algn="l">
              <a:lnSpc>
                <a:spcPct val="145000"/>
              </a:lnSpc>
            </a:pPr>
            <a:r>
              <a:rPr sz="2000" b="0" i="0">
                <a:solidFill>
                  <a:srgbClr val="0F172A"/>
                </a:solidFill>
                <a:latin typeface="Calibri"/>
              </a:rPr>
              <a:t>memory, and a second model from a different company verifies every claim</a:t>
            </a:r>
          </a:p>
          <a:p>
            <a:pPr algn="l">
              <a:lnSpc>
                <a:spcPct val="145000"/>
              </a:lnSpc>
            </a:pPr>
            <a:r>
              <a:rPr sz="2000" b="0" i="0">
                <a:solidFill>
                  <a:srgbClr val="0F172A"/>
                </a:solidFill>
                <a:latin typeface="Calibri"/>
              </a:rPr>
              <a:t>before the doctor ever sees it. If it can't reach 75% confidence — it says so.</a:t>
            </a:r>
          </a:p>
          <a:p>
            <a:pPr algn="l">
              <a:lnSpc>
                <a:spcPct val="145000"/>
              </a:lnSpc>
            </a:pPr>
            <a:r>
              <a:rPr sz="2000" b="0" i="0">
                <a:solidFill>
                  <a:srgbClr val="0F172A"/>
                </a:solidFill>
                <a:latin typeface="Calibri"/>
              </a:rPr>
              <a:t/>
            </a:r>
          </a:p>
          <a:p>
            <a:pPr algn="l">
              <a:lnSpc>
                <a:spcPct val="145000"/>
              </a:lnSpc>
            </a:pPr>
            <a:r>
              <a:rPr sz="2000" b="0" i="0">
                <a:solidFill>
                  <a:srgbClr val="0F172A"/>
                </a:solidFill>
                <a:latin typeface="Calibri"/>
              </a:rPr>
              <a:t>That's the difference between a chatbot and a clinical tool.</a:t>
            </a:r>
          </a:p>
        </p:txBody>
      </p:sp>
      <p:sp>
        <p:nvSpPr>
          <p:cNvPr id="8" name="TextBox 7"/>
          <p:cNvSpPr txBox="1"/>
          <p:nvPr/>
        </p:nvSpPr>
        <p:spPr>
          <a:xfrm>
            <a:off x="868680" y="6126480"/>
            <a:ext cx="10515600" cy="365760"/>
          </a:xfrm>
          <a:prstGeom prst="rect">
            <a:avLst/>
          </a:prstGeom>
          <a:noFill/>
        </p:spPr>
        <p:txBody>
          <a:bodyPr wrap="square" lIns="0" rIns="0" tIns="0" bIns="0" anchor="t">
            <a:spAutoFit/>
          </a:bodyPr>
          <a:lstStyle/>
          <a:p>
            <a:pPr algn="ctr">
              <a:lnSpc>
                <a:spcPct val="115000"/>
              </a:lnSpc>
            </a:pPr>
            <a:r>
              <a:rPr sz="1200" b="0" i="1">
                <a:solidFill>
                  <a:srgbClr val="64748B"/>
                </a:solidFill>
                <a:latin typeface="Calibri"/>
              </a:rPr>
              <a:t>≈ 25 seconds spoken  ·  memorize verbatim</a:t>
            </a:r>
          </a:p>
        </p:txBody>
      </p:sp>
      <p:sp>
        <p:nvSpPr>
          <p:cNvPr id="9" name="Rectangle 8"/>
          <p:cNvSpPr/>
          <p:nvPr/>
        </p:nvSpPr>
        <p:spPr>
          <a:xfrm>
            <a:off x="0" y="6565392"/>
            <a:ext cx="12191695"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01968"/>
            <a:ext cx="7315200" cy="274320"/>
          </a:xfrm>
          <a:prstGeom prst="rect">
            <a:avLst/>
          </a:prstGeom>
          <a:noFill/>
        </p:spPr>
        <p:txBody>
          <a:bodyPr wrap="square" lIns="0" rIns="0" tIns="0" bIns="0" anchor="t">
            <a:spAutoFit/>
          </a:bodyPr>
          <a:lstStyle/>
          <a:p>
            <a:pPr algn="l">
              <a:lnSpc>
                <a:spcPct val="115000"/>
              </a:lnSpc>
            </a:pPr>
            <a:r>
              <a:rPr sz="1000" b="0" i="0">
                <a:solidFill>
                  <a:srgbClr val="64748B"/>
                </a:solidFill>
                <a:latin typeface="Calibri"/>
              </a:rPr>
              <a:t>MedCite  ·  Jubilant Pharma Hackathon  ·  abhi04-medcite.vercel.app</a:t>
            </a:r>
          </a:p>
        </p:txBody>
      </p:sp>
      <p:sp>
        <p:nvSpPr>
          <p:cNvPr id="11" name="TextBox 10"/>
          <p:cNvSpPr txBox="1"/>
          <p:nvPr/>
        </p:nvSpPr>
        <p:spPr>
          <a:xfrm>
            <a:off x="9601200" y="6601968"/>
            <a:ext cx="2103120" cy="274320"/>
          </a:xfrm>
          <a:prstGeom prst="rect">
            <a:avLst/>
          </a:prstGeom>
          <a:noFill/>
        </p:spPr>
        <p:txBody>
          <a:bodyPr wrap="square" lIns="0" rIns="0" tIns="0" bIns="0" anchor="t">
            <a:spAutoFit/>
          </a:bodyPr>
          <a:lstStyle/>
          <a:p>
            <a:pPr algn="r">
              <a:lnSpc>
                <a:spcPct val="115000"/>
              </a:lnSpc>
            </a:pPr>
            <a:r>
              <a:rPr sz="1000" b="0" i="0">
                <a:solidFill>
                  <a:srgbClr val="64748B"/>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64592"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7315200" cy="292608"/>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THE 7 HARD RULES</a:t>
            </a:r>
          </a:p>
        </p:txBody>
      </p:sp>
      <p:sp>
        <p:nvSpPr>
          <p:cNvPr id="4" name="TextBox 3"/>
          <p:cNvSpPr txBox="1"/>
          <p:nvPr/>
        </p:nvSpPr>
        <p:spPr>
          <a:xfrm>
            <a:off x="868680" y="777240"/>
            <a:ext cx="10515600" cy="640080"/>
          </a:xfrm>
          <a:prstGeom prst="rect">
            <a:avLst/>
          </a:prstGeom>
          <a:noFill/>
        </p:spPr>
        <p:txBody>
          <a:bodyPr wrap="square" lIns="0" rIns="0" tIns="0" bIns="0" anchor="t">
            <a:spAutoFit/>
          </a:bodyPr>
          <a:lstStyle/>
          <a:p>
            <a:pPr algn="l">
              <a:lnSpc>
                <a:spcPct val="115000"/>
              </a:lnSpc>
            </a:pPr>
            <a:r>
              <a:rPr sz="3200" b="1" i="0">
                <a:solidFill>
                  <a:srgbClr val="0F172A"/>
                </a:solidFill>
                <a:latin typeface="Calibri"/>
              </a:rPr>
              <a:t>What MedCite will never do.</a:t>
            </a:r>
          </a:p>
        </p:txBody>
      </p:sp>
      <p:sp>
        <p:nvSpPr>
          <p:cNvPr id="5" name="Oval 4"/>
          <p:cNvSpPr/>
          <p:nvPr/>
        </p:nvSpPr>
        <p:spPr>
          <a:xfrm>
            <a:off x="868680" y="1947672"/>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47672"/>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Calibri"/>
              </a:rPr>
              <a:t>1</a:t>
            </a:r>
          </a:p>
        </p:txBody>
      </p:sp>
      <p:sp>
        <p:nvSpPr>
          <p:cNvPr id="7" name="TextBox 6"/>
          <p:cNvSpPr txBox="1"/>
          <p:nvPr/>
        </p:nvSpPr>
        <p:spPr>
          <a:xfrm>
            <a:off x="1554480" y="1828800"/>
            <a:ext cx="4434840" cy="411480"/>
          </a:xfrm>
          <a:prstGeom prst="rect">
            <a:avLst/>
          </a:prstGeom>
          <a:noFill/>
        </p:spPr>
        <p:txBody>
          <a:bodyPr wrap="square" lIns="0" rIns="0" tIns="0" bIns="0" anchor="t">
            <a:spAutoFit/>
          </a:bodyPr>
          <a:lstStyle/>
          <a:p>
            <a:pPr algn="l">
              <a:lnSpc>
                <a:spcPct val="115000"/>
              </a:lnSpc>
            </a:pPr>
            <a:r>
              <a:rPr sz="1500" b="1" i="0">
                <a:solidFill>
                  <a:srgbClr val="0F172A"/>
                </a:solidFill>
                <a:latin typeface="Calibri"/>
              </a:rPr>
              <a:t>LLMs never write URLs.</a:t>
            </a:r>
          </a:p>
        </p:txBody>
      </p:sp>
      <p:sp>
        <p:nvSpPr>
          <p:cNvPr id="8" name="TextBox 7"/>
          <p:cNvSpPr txBox="1"/>
          <p:nvPr/>
        </p:nvSpPr>
        <p:spPr>
          <a:xfrm>
            <a:off x="1554480" y="2240280"/>
            <a:ext cx="4434840" cy="502920"/>
          </a:xfrm>
          <a:prstGeom prst="rect">
            <a:avLst/>
          </a:prstGeom>
          <a:noFill/>
        </p:spPr>
        <p:txBody>
          <a:bodyPr wrap="square" lIns="0" rIns="0" tIns="0" bIns="0" anchor="t">
            <a:spAutoFit/>
          </a:bodyPr>
          <a:lstStyle/>
          <a:p>
            <a:pPr algn="l">
              <a:lnSpc>
                <a:spcPct val="130000"/>
              </a:lnSpc>
            </a:pPr>
            <a:r>
              <a:rPr sz="1200" b="0" i="0">
                <a:solidFill>
                  <a:srgbClr val="64748B"/>
                </a:solidFill>
                <a:latin typeface="Calibri"/>
              </a:rPr>
              <a:t>Backend stitches them from PMIDs in metadata.</a:t>
            </a:r>
          </a:p>
        </p:txBody>
      </p:sp>
      <p:sp>
        <p:nvSpPr>
          <p:cNvPr id="9" name="Oval 8"/>
          <p:cNvSpPr/>
          <p:nvPr/>
        </p:nvSpPr>
        <p:spPr>
          <a:xfrm>
            <a:off x="6217920" y="1947672"/>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47672"/>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Calibri"/>
              </a:rPr>
              <a:t>2</a:t>
            </a:r>
          </a:p>
        </p:txBody>
      </p:sp>
      <p:sp>
        <p:nvSpPr>
          <p:cNvPr id="11" name="TextBox 10"/>
          <p:cNvSpPr txBox="1"/>
          <p:nvPr/>
        </p:nvSpPr>
        <p:spPr>
          <a:xfrm>
            <a:off x="6903720" y="1828800"/>
            <a:ext cx="4434840" cy="411480"/>
          </a:xfrm>
          <a:prstGeom prst="rect">
            <a:avLst/>
          </a:prstGeom>
          <a:noFill/>
        </p:spPr>
        <p:txBody>
          <a:bodyPr wrap="square" lIns="0" rIns="0" tIns="0" bIns="0" anchor="t">
            <a:spAutoFit/>
          </a:bodyPr>
          <a:lstStyle/>
          <a:p>
            <a:pPr algn="l">
              <a:lnSpc>
                <a:spcPct val="115000"/>
              </a:lnSpc>
            </a:pPr>
            <a:r>
              <a:rPr sz="1500" b="1" i="0">
                <a:solidFill>
                  <a:srgbClr val="0F172A"/>
                </a:solidFill>
                <a:latin typeface="Calibri"/>
              </a:rPr>
              <a:t>LLMs never answer from memory.</a:t>
            </a:r>
          </a:p>
        </p:txBody>
      </p:sp>
      <p:sp>
        <p:nvSpPr>
          <p:cNvPr id="12" name="TextBox 11"/>
          <p:cNvSpPr txBox="1"/>
          <p:nvPr/>
        </p:nvSpPr>
        <p:spPr>
          <a:xfrm>
            <a:off x="6903720" y="2240280"/>
            <a:ext cx="4434840" cy="502920"/>
          </a:xfrm>
          <a:prstGeom prst="rect">
            <a:avLst/>
          </a:prstGeom>
          <a:noFill/>
        </p:spPr>
        <p:txBody>
          <a:bodyPr wrap="square" lIns="0" rIns="0" tIns="0" bIns="0" anchor="t">
            <a:spAutoFit/>
          </a:bodyPr>
          <a:lstStyle/>
          <a:p>
            <a:pPr algn="l">
              <a:lnSpc>
                <a:spcPct val="130000"/>
              </a:lnSpc>
            </a:pPr>
            <a:r>
              <a:rPr sz="1200" b="0" i="0">
                <a:solidFill>
                  <a:srgbClr val="64748B"/>
                </a:solidFill>
                <a:latin typeface="Calibri"/>
              </a:rPr>
              <a:t>Chunks-only, or output INSUFFICIENT_EVIDENCE.</a:t>
            </a:r>
          </a:p>
        </p:txBody>
      </p:sp>
      <p:sp>
        <p:nvSpPr>
          <p:cNvPr id="13" name="Oval 12"/>
          <p:cNvSpPr/>
          <p:nvPr/>
        </p:nvSpPr>
        <p:spPr>
          <a:xfrm>
            <a:off x="868680" y="2999232"/>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999232"/>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Calibri"/>
              </a:rPr>
              <a:t>3</a:t>
            </a:r>
          </a:p>
        </p:txBody>
      </p:sp>
      <p:sp>
        <p:nvSpPr>
          <p:cNvPr id="15" name="TextBox 14"/>
          <p:cNvSpPr txBox="1"/>
          <p:nvPr/>
        </p:nvSpPr>
        <p:spPr>
          <a:xfrm>
            <a:off x="1554480" y="2880360"/>
            <a:ext cx="4434840" cy="411480"/>
          </a:xfrm>
          <a:prstGeom prst="rect">
            <a:avLst/>
          </a:prstGeom>
          <a:noFill/>
        </p:spPr>
        <p:txBody>
          <a:bodyPr wrap="square" lIns="0" rIns="0" tIns="0" bIns="0" anchor="t">
            <a:spAutoFit/>
          </a:bodyPr>
          <a:lstStyle/>
          <a:p>
            <a:pPr algn="l">
              <a:lnSpc>
                <a:spcPct val="115000"/>
              </a:lnSpc>
            </a:pPr>
            <a:r>
              <a:rPr sz="1500" b="1" i="0">
                <a:solidFill>
                  <a:srgbClr val="0F172A"/>
                </a:solidFill>
                <a:latin typeface="Calibri"/>
              </a:rPr>
              <a:t>A different vendor verifies.</a:t>
            </a:r>
          </a:p>
        </p:txBody>
      </p:sp>
      <p:sp>
        <p:nvSpPr>
          <p:cNvPr id="16" name="TextBox 15"/>
          <p:cNvSpPr txBox="1"/>
          <p:nvPr/>
        </p:nvSpPr>
        <p:spPr>
          <a:xfrm>
            <a:off x="1554480" y="3291840"/>
            <a:ext cx="4434840" cy="502920"/>
          </a:xfrm>
          <a:prstGeom prst="rect">
            <a:avLst/>
          </a:prstGeom>
          <a:noFill/>
        </p:spPr>
        <p:txBody>
          <a:bodyPr wrap="square" lIns="0" rIns="0" tIns="0" bIns="0" anchor="t">
            <a:spAutoFit/>
          </a:bodyPr>
          <a:lstStyle/>
          <a:p>
            <a:pPr algn="l">
              <a:lnSpc>
                <a:spcPct val="130000"/>
              </a:lnSpc>
            </a:pPr>
            <a:r>
              <a:rPr sz="1200" b="0" i="0">
                <a:solidFill>
                  <a:srgbClr val="64748B"/>
                </a:solidFill>
                <a:latin typeface="Calibri"/>
              </a:rPr>
              <a:t>Google Gemini synthesizes; Meta Llama verifies.</a:t>
            </a:r>
          </a:p>
        </p:txBody>
      </p:sp>
      <p:sp>
        <p:nvSpPr>
          <p:cNvPr id="17" name="Oval 16"/>
          <p:cNvSpPr/>
          <p:nvPr/>
        </p:nvSpPr>
        <p:spPr>
          <a:xfrm>
            <a:off x="6217920" y="2999232"/>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2999232"/>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Calibri"/>
              </a:rPr>
              <a:t>4</a:t>
            </a:r>
          </a:p>
        </p:txBody>
      </p:sp>
      <p:sp>
        <p:nvSpPr>
          <p:cNvPr id="19" name="TextBox 18"/>
          <p:cNvSpPr txBox="1"/>
          <p:nvPr/>
        </p:nvSpPr>
        <p:spPr>
          <a:xfrm>
            <a:off x="6903720" y="2880360"/>
            <a:ext cx="4434840" cy="411480"/>
          </a:xfrm>
          <a:prstGeom prst="rect">
            <a:avLst/>
          </a:prstGeom>
          <a:noFill/>
        </p:spPr>
        <p:txBody>
          <a:bodyPr wrap="square" lIns="0" rIns="0" tIns="0" bIns="0" anchor="t">
            <a:spAutoFit/>
          </a:bodyPr>
          <a:lstStyle/>
          <a:p>
            <a:pPr algn="l">
              <a:lnSpc>
                <a:spcPct val="115000"/>
              </a:lnSpc>
            </a:pPr>
            <a:r>
              <a:rPr sz="1500" b="1" i="0">
                <a:solidFill>
                  <a:srgbClr val="0F172A"/>
                </a:solidFill>
                <a:latin typeface="Calibri"/>
              </a:rPr>
              <a:t>Confidence below 0.75 → abstain.</a:t>
            </a:r>
          </a:p>
        </p:txBody>
      </p:sp>
      <p:sp>
        <p:nvSpPr>
          <p:cNvPr id="20" name="TextBox 19"/>
          <p:cNvSpPr txBox="1"/>
          <p:nvPr/>
        </p:nvSpPr>
        <p:spPr>
          <a:xfrm>
            <a:off x="6903720" y="3291840"/>
            <a:ext cx="4434840" cy="502920"/>
          </a:xfrm>
          <a:prstGeom prst="rect">
            <a:avLst/>
          </a:prstGeom>
          <a:noFill/>
        </p:spPr>
        <p:txBody>
          <a:bodyPr wrap="square" lIns="0" rIns="0" tIns="0" bIns="0" anchor="t">
            <a:spAutoFit/>
          </a:bodyPr>
          <a:lstStyle/>
          <a:p>
            <a:pPr algn="l">
              <a:lnSpc>
                <a:spcPct val="130000"/>
              </a:lnSpc>
            </a:pPr>
            <a:r>
              <a:rPr sz="1200" b="0" i="0">
                <a:solidFill>
                  <a:srgbClr val="64748B"/>
                </a:solidFill>
                <a:latin typeface="Calibri"/>
              </a:rPr>
              <a:t>No low-confidence guesses. Ever.</a:t>
            </a:r>
          </a:p>
        </p:txBody>
      </p:sp>
      <p:sp>
        <p:nvSpPr>
          <p:cNvPr id="21" name="Oval 20"/>
          <p:cNvSpPr/>
          <p:nvPr/>
        </p:nvSpPr>
        <p:spPr>
          <a:xfrm>
            <a:off x="868680" y="4050792"/>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050792"/>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Calibri"/>
              </a:rPr>
              <a:t>5</a:t>
            </a:r>
          </a:p>
        </p:txBody>
      </p:sp>
      <p:sp>
        <p:nvSpPr>
          <p:cNvPr id="23" name="TextBox 22"/>
          <p:cNvSpPr txBox="1"/>
          <p:nvPr/>
        </p:nvSpPr>
        <p:spPr>
          <a:xfrm>
            <a:off x="1554480" y="3931920"/>
            <a:ext cx="4434840" cy="411480"/>
          </a:xfrm>
          <a:prstGeom prst="rect">
            <a:avLst/>
          </a:prstGeom>
          <a:noFill/>
        </p:spPr>
        <p:txBody>
          <a:bodyPr wrap="square" lIns="0" rIns="0" tIns="0" bIns="0" anchor="t">
            <a:spAutoFit/>
          </a:bodyPr>
          <a:lstStyle/>
          <a:p>
            <a:pPr algn="l">
              <a:lnSpc>
                <a:spcPct val="115000"/>
              </a:lnSpc>
            </a:pPr>
            <a:r>
              <a:rPr sz="1500" b="1" i="0">
                <a:solidFill>
                  <a:srgbClr val="0F172A"/>
                </a:solidFill>
                <a:latin typeface="Calibri"/>
              </a:rPr>
              <a:t>The doctor controls the live search.</a:t>
            </a:r>
          </a:p>
        </p:txBody>
      </p:sp>
      <p:sp>
        <p:nvSpPr>
          <p:cNvPr id="24" name="TextBox 23"/>
          <p:cNvSpPr txBox="1"/>
          <p:nvPr/>
        </p:nvSpPr>
        <p:spPr>
          <a:xfrm>
            <a:off x="1554480" y="4343400"/>
            <a:ext cx="4434840" cy="502920"/>
          </a:xfrm>
          <a:prstGeom prst="rect">
            <a:avLst/>
          </a:prstGeom>
          <a:noFill/>
        </p:spPr>
        <p:txBody>
          <a:bodyPr wrap="square" lIns="0" rIns="0" tIns="0" bIns="0" anchor="t">
            <a:spAutoFit/>
          </a:bodyPr>
          <a:lstStyle/>
          <a:p>
            <a:pPr algn="l">
              <a:lnSpc>
                <a:spcPct val="130000"/>
              </a:lnSpc>
            </a:pPr>
            <a:r>
              <a:rPr sz="1200" b="0" i="0">
                <a:solidFill>
                  <a:srgbClr val="64748B"/>
                </a:solidFill>
                <a:latin typeface="Calibri"/>
              </a:rPr>
              <a:t>Cache runs auto. Live PubMed runs only on click.</a:t>
            </a:r>
          </a:p>
        </p:txBody>
      </p:sp>
      <p:sp>
        <p:nvSpPr>
          <p:cNvPr id="25" name="Oval 24"/>
          <p:cNvSpPr/>
          <p:nvPr/>
        </p:nvSpPr>
        <p:spPr>
          <a:xfrm>
            <a:off x="6217920" y="4050792"/>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4050792"/>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Calibri"/>
              </a:rPr>
              <a:t>6</a:t>
            </a:r>
          </a:p>
        </p:txBody>
      </p:sp>
      <p:sp>
        <p:nvSpPr>
          <p:cNvPr id="27" name="TextBox 26"/>
          <p:cNvSpPr txBox="1"/>
          <p:nvPr/>
        </p:nvSpPr>
        <p:spPr>
          <a:xfrm>
            <a:off x="6903720" y="3931920"/>
            <a:ext cx="4434840" cy="411480"/>
          </a:xfrm>
          <a:prstGeom prst="rect">
            <a:avLst/>
          </a:prstGeom>
          <a:noFill/>
        </p:spPr>
        <p:txBody>
          <a:bodyPr wrap="square" lIns="0" rIns="0" tIns="0" bIns="0" anchor="t">
            <a:spAutoFit/>
          </a:bodyPr>
          <a:lstStyle/>
          <a:p>
            <a:pPr algn="l">
              <a:lnSpc>
                <a:spcPct val="115000"/>
              </a:lnSpc>
            </a:pPr>
            <a:r>
              <a:rPr sz="1500" b="1" i="0">
                <a:solidFill>
                  <a:srgbClr val="0F172A"/>
                </a:solidFill>
                <a:latin typeface="Calibri"/>
              </a:rPr>
              <a:t>Every citation has the quoted passage.</a:t>
            </a:r>
          </a:p>
        </p:txBody>
      </p:sp>
      <p:sp>
        <p:nvSpPr>
          <p:cNvPr id="28" name="TextBox 27"/>
          <p:cNvSpPr txBox="1"/>
          <p:nvPr/>
        </p:nvSpPr>
        <p:spPr>
          <a:xfrm>
            <a:off x="6903720" y="4343400"/>
            <a:ext cx="4434840" cy="502920"/>
          </a:xfrm>
          <a:prstGeom prst="rect">
            <a:avLst/>
          </a:prstGeom>
          <a:noFill/>
        </p:spPr>
        <p:txBody>
          <a:bodyPr wrap="square" lIns="0" rIns="0" tIns="0" bIns="0" anchor="t">
            <a:spAutoFit/>
          </a:bodyPr>
          <a:lstStyle/>
          <a:p>
            <a:pPr algn="l">
              <a:lnSpc>
                <a:spcPct val="130000"/>
              </a:lnSpc>
            </a:pPr>
            <a:r>
              <a:rPr sz="1200" b="0" i="0">
                <a:solidFill>
                  <a:srgbClr val="64748B"/>
                </a:solidFill>
                <a:latin typeface="Calibri"/>
              </a:rPr>
              <a:t>Doctors verify the source at a glance.</a:t>
            </a:r>
          </a:p>
        </p:txBody>
      </p:sp>
      <p:sp>
        <p:nvSpPr>
          <p:cNvPr id="29" name="Oval 28"/>
          <p:cNvSpPr/>
          <p:nvPr/>
        </p:nvSpPr>
        <p:spPr>
          <a:xfrm>
            <a:off x="868680" y="5102352"/>
            <a:ext cx="502920" cy="5029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102352"/>
            <a:ext cx="502920" cy="502920"/>
          </a:xfrm>
          <a:prstGeom prst="rect">
            <a:avLst/>
          </a:prstGeom>
          <a:noFill/>
        </p:spPr>
        <p:txBody>
          <a:bodyPr wrap="square" lIns="0" rIns="0" tIns="0" bIns="0" anchor="ctr">
            <a:spAutoFit/>
          </a:bodyPr>
          <a:lstStyle/>
          <a:p>
            <a:pPr algn="ctr">
              <a:lnSpc>
                <a:spcPct val="115000"/>
              </a:lnSpc>
            </a:pPr>
            <a:r>
              <a:rPr sz="1800" b="1" i="0">
                <a:solidFill>
                  <a:srgbClr val="FFFFFF"/>
                </a:solidFill>
                <a:latin typeface="Calibri"/>
              </a:rPr>
              <a:t>7</a:t>
            </a:r>
          </a:p>
        </p:txBody>
      </p:sp>
      <p:sp>
        <p:nvSpPr>
          <p:cNvPr id="31" name="TextBox 30"/>
          <p:cNvSpPr txBox="1"/>
          <p:nvPr/>
        </p:nvSpPr>
        <p:spPr>
          <a:xfrm>
            <a:off x="1554480" y="4983480"/>
            <a:ext cx="4434840" cy="411480"/>
          </a:xfrm>
          <a:prstGeom prst="rect">
            <a:avLst/>
          </a:prstGeom>
          <a:noFill/>
        </p:spPr>
        <p:txBody>
          <a:bodyPr wrap="square" lIns="0" rIns="0" tIns="0" bIns="0" anchor="t">
            <a:spAutoFit/>
          </a:bodyPr>
          <a:lstStyle/>
          <a:p>
            <a:pPr algn="l">
              <a:lnSpc>
                <a:spcPct val="115000"/>
              </a:lnSpc>
            </a:pPr>
            <a:r>
              <a:rPr sz="1500" b="1" i="0">
                <a:solidFill>
                  <a:srgbClr val="0F172A"/>
                </a:solidFill>
                <a:latin typeface="Calibri"/>
              </a:rPr>
              <a:t>It is a clinical tool, not a chatbot.</a:t>
            </a:r>
          </a:p>
        </p:txBody>
      </p:sp>
      <p:sp>
        <p:nvSpPr>
          <p:cNvPr id="32" name="TextBox 31"/>
          <p:cNvSpPr txBox="1"/>
          <p:nvPr/>
        </p:nvSpPr>
        <p:spPr>
          <a:xfrm>
            <a:off x="1554480" y="5394960"/>
            <a:ext cx="4434840" cy="502920"/>
          </a:xfrm>
          <a:prstGeom prst="rect">
            <a:avLst/>
          </a:prstGeom>
          <a:noFill/>
        </p:spPr>
        <p:txBody>
          <a:bodyPr wrap="square" lIns="0" rIns="0" tIns="0" bIns="0" anchor="t">
            <a:spAutoFit/>
          </a:bodyPr>
          <a:lstStyle/>
          <a:p>
            <a:pPr algn="l">
              <a:lnSpc>
                <a:spcPct val="130000"/>
              </a:lnSpc>
            </a:pPr>
            <a:r>
              <a:rPr sz="1200" b="0" i="0">
                <a:solidFill>
                  <a:srgbClr val="64748B"/>
                </a:solidFill>
                <a:latin typeface="Calibri"/>
              </a:rPr>
              <a:t>One question, one answer card. No history.</a:t>
            </a:r>
          </a:p>
        </p:txBody>
      </p:sp>
      <p:sp>
        <p:nvSpPr>
          <p:cNvPr id="33" name="Rectangle 32"/>
          <p:cNvSpPr/>
          <p:nvPr/>
        </p:nvSpPr>
        <p:spPr>
          <a:xfrm>
            <a:off x="6217920" y="5029200"/>
            <a:ext cx="5166360" cy="77724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0" y="5029200"/>
            <a:ext cx="5166360" cy="777240"/>
          </a:xfrm>
          <a:prstGeom prst="rect">
            <a:avLst/>
          </a:prstGeom>
          <a:noFill/>
        </p:spPr>
        <p:txBody>
          <a:bodyPr wrap="square" lIns="0" rIns="0" tIns="0" bIns="0" anchor="ctr">
            <a:spAutoFit/>
          </a:bodyPr>
          <a:lstStyle/>
          <a:p>
            <a:pPr algn="ctr">
              <a:lnSpc>
                <a:spcPct val="115000"/>
              </a:lnSpc>
            </a:pPr>
            <a:r>
              <a:rPr sz="1400" b="1" i="1">
                <a:solidFill>
                  <a:srgbClr val="FFFFFF"/>
                </a:solidFill>
                <a:latin typeface="Calibri"/>
              </a:rPr>
              <a:t>These are the architecture — not marketing.</a:t>
            </a:r>
          </a:p>
        </p:txBody>
      </p:sp>
      <p:sp>
        <p:nvSpPr>
          <p:cNvPr id="35" name="Rectangle 34"/>
          <p:cNvSpPr/>
          <p:nvPr/>
        </p:nvSpPr>
        <p:spPr>
          <a:xfrm>
            <a:off x="0" y="6565392"/>
            <a:ext cx="12191695"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6601968"/>
            <a:ext cx="7315200" cy="274320"/>
          </a:xfrm>
          <a:prstGeom prst="rect">
            <a:avLst/>
          </a:prstGeom>
          <a:noFill/>
        </p:spPr>
        <p:txBody>
          <a:bodyPr wrap="square" lIns="0" rIns="0" tIns="0" bIns="0" anchor="t">
            <a:spAutoFit/>
          </a:bodyPr>
          <a:lstStyle/>
          <a:p>
            <a:pPr algn="l">
              <a:lnSpc>
                <a:spcPct val="115000"/>
              </a:lnSpc>
            </a:pPr>
            <a:r>
              <a:rPr sz="1000" b="0" i="0">
                <a:solidFill>
                  <a:srgbClr val="64748B"/>
                </a:solidFill>
                <a:latin typeface="Calibri"/>
              </a:rPr>
              <a:t>MedCite  ·  Jubilant Pharma Hackathon  ·  abhi04-medcite.vercel.app</a:t>
            </a:r>
          </a:p>
        </p:txBody>
      </p:sp>
      <p:sp>
        <p:nvSpPr>
          <p:cNvPr id="37" name="TextBox 36"/>
          <p:cNvSpPr txBox="1"/>
          <p:nvPr/>
        </p:nvSpPr>
        <p:spPr>
          <a:xfrm>
            <a:off x="9601200" y="6601968"/>
            <a:ext cx="2103120" cy="274320"/>
          </a:xfrm>
          <a:prstGeom prst="rect">
            <a:avLst/>
          </a:prstGeom>
          <a:noFill/>
        </p:spPr>
        <p:txBody>
          <a:bodyPr wrap="square" lIns="0" rIns="0" tIns="0" bIns="0" anchor="t">
            <a:spAutoFit/>
          </a:bodyPr>
          <a:lstStyle/>
          <a:p>
            <a:pPr algn="r">
              <a:lnSpc>
                <a:spcPct val="115000"/>
              </a:lnSpc>
            </a:pPr>
            <a:r>
              <a:rPr sz="1000" b="0" i="0">
                <a:solidFill>
                  <a:srgbClr val="64748B"/>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64592"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7315200" cy="292608"/>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ARCHITECTURE</a:t>
            </a:r>
          </a:p>
        </p:txBody>
      </p:sp>
      <p:sp>
        <p:nvSpPr>
          <p:cNvPr id="4" name="TextBox 3"/>
          <p:cNvSpPr txBox="1"/>
          <p:nvPr/>
        </p:nvSpPr>
        <p:spPr>
          <a:xfrm>
            <a:off x="868680" y="777240"/>
            <a:ext cx="10515600" cy="640080"/>
          </a:xfrm>
          <a:prstGeom prst="rect">
            <a:avLst/>
          </a:prstGeom>
          <a:noFill/>
        </p:spPr>
        <p:txBody>
          <a:bodyPr wrap="square" lIns="0" rIns="0" tIns="0" bIns="0" anchor="t">
            <a:spAutoFit/>
          </a:bodyPr>
          <a:lstStyle/>
          <a:p>
            <a:pPr algn="l">
              <a:lnSpc>
                <a:spcPct val="115000"/>
              </a:lnSpc>
            </a:pPr>
            <a:r>
              <a:rPr sz="3200" b="1" i="0">
                <a:solidFill>
                  <a:srgbClr val="0F172A"/>
                </a:solidFill>
                <a:latin typeface="Calibri"/>
              </a:rPr>
              <a:t>Two-tier retrieval. Cross-vendor verification.</a:t>
            </a:r>
          </a:p>
        </p:txBody>
      </p:sp>
      <p:sp>
        <p:nvSpPr>
          <p:cNvPr id="5" name="Rectangle 4"/>
          <p:cNvSpPr/>
          <p:nvPr/>
        </p:nvSpPr>
        <p:spPr>
          <a:xfrm>
            <a:off x="3809847" y="1691640"/>
            <a:ext cx="4572000" cy="50292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09847" y="1691640"/>
            <a:ext cx="4572000" cy="502920"/>
          </a:xfrm>
          <a:prstGeom prst="rect">
            <a:avLst/>
          </a:prstGeom>
          <a:noFill/>
        </p:spPr>
        <p:txBody>
          <a:bodyPr wrap="square" lIns="0" rIns="0" tIns="0" bIns="0" anchor="ctr">
            <a:spAutoFit/>
          </a:bodyPr>
          <a:lstStyle/>
          <a:p>
            <a:pPr algn="ctr">
              <a:lnSpc>
                <a:spcPct val="115000"/>
              </a:lnSpc>
            </a:pPr>
            <a:r>
              <a:rPr sz="1500" b="1" i="0">
                <a:solidFill>
                  <a:srgbClr val="FFFFFF"/>
                </a:solidFill>
                <a:latin typeface="Calibri"/>
              </a:rPr>
              <a:t>Doctor types a query</a:t>
            </a:r>
          </a:p>
        </p:txBody>
      </p:sp>
      <p:sp>
        <p:nvSpPr>
          <p:cNvPr id="7" name="Rectangle 6"/>
          <p:cNvSpPr/>
          <p:nvPr/>
        </p:nvSpPr>
        <p:spPr>
          <a:xfrm>
            <a:off x="6080847" y="2240280"/>
            <a:ext cx="30000" cy="32004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0" y="2606040"/>
            <a:ext cx="7589520" cy="77724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0" y="2651760"/>
            <a:ext cx="7589520" cy="365760"/>
          </a:xfrm>
          <a:prstGeom prst="rect">
            <a:avLst/>
          </a:prstGeom>
          <a:noFill/>
        </p:spPr>
        <p:txBody>
          <a:bodyPr wrap="square" lIns="0" rIns="0" tIns="0" bIns="0" anchor="t">
            <a:spAutoFit/>
          </a:bodyPr>
          <a:lstStyle/>
          <a:p>
            <a:pPr algn="ctr">
              <a:lnSpc>
                <a:spcPct val="115000"/>
              </a:lnSpc>
            </a:pPr>
            <a:r>
              <a:rPr sz="1100" b="1" i="0">
                <a:solidFill>
                  <a:srgbClr val="FFFFFF"/>
                </a:solidFill>
                <a:latin typeface="Calibri"/>
              </a:rPr>
              <a:t>TIER 1 — LOCAL RETRIEVER  ·  ~3 seconds</a:t>
            </a:r>
          </a:p>
        </p:txBody>
      </p:sp>
      <p:sp>
        <p:nvSpPr>
          <p:cNvPr id="10" name="TextBox 9"/>
          <p:cNvSpPr txBox="1"/>
          <p:nvPr/>
        </p:nvSpPr>
        <p:spPr>
          <a:xfrm>
            <a:off x="2286000" y="2971800"/>
            <a:ext cx="7589520" cy="365760"/>
          </a:xfrm>
          <a:prstGeom prst="rect">
            <a:avLst/>
          </a:prstGeom>
          <a:noFill/>
        </p:spPr>
        <p:txBody>
          <a:bodyPr wrap="square" lIns="0" rIns="0" tIns="0" bIns="0" anchor="t">
            <a:spAutoFit/>
          </a:bodyPr>
          <a:lstStyle/>
          <a:p>
            <a:pPr algn="ctr">
              <a:lnSpc>
                <a:spcPct val="115000"/>
              </a:lnSpc>
            </a:pPr>
            <a:r>
              <a:rPr sz="1300" b="0" i="0">
                <a:solidFill>
                  <a:srgbClr val="FFFFFF"/>
                </a:solidFill>
                <a:latin typeface="Calibri"/>
              </a:rPr>
              <a:t>LanceDB  ·  17,456 chunks  ·  MiniLM-L6-v2 cosine search  ·  threshold 0.55</a:t>
            </a:r>
          </a:p>
        </p:txBody>
      </p:sp>
      <p:sp>
        <p:nvSpPr>
          <p:cNvPr id="11" name="TextBox 10"/>
          <p:cNvSpPr txBox="1"/>
          <p:nvPr/>
        </p:nvSpPr>
        <p:spPr>
          <a:xfrm>
            <a:off x="1828800" y="3520440"/>
            <a:ext cx="3200400" cy="365760"/>
          </a:xfrm>
          <a:prstGeom prst="rect">
            <a:avLst/>
          </a:prstGeom>
          <a:noFill/>
        </p:spPr>
        <p:txBody>
          <a:bodyPr wrap="square" lIns="0" rIns="0" tIns="0" bIns="0" anchor="t">
            <a:spAutoFit/>
          </a:bodyPr>
          <a:lstStyle/>
          <a:p>
            <a:pPr algn="ctr">
              <a:lnSpc>
                <a:spcPct val="115000"/>
              </a:lnSpc>
            </a:pPr>
            <a:r>
              <a:rPr sz="1200" b="1" i="0">
                <a:solidFill>
                  <a:srgbClr val="0F172A"/>
                </a:solidFill>
                <a:latin typeface="Calibri"/>
              </a:rPr>
              <a:t>↓  Found  (sim ≥ 0.55)</a:t>
            </a:r>
          </a:p>
        </p:txBody>
      </p:sp>
      <p:sp>
        <p:nvSpPr>
          <p:cNvPr id="12" name="Rectangle 11"/>
          <p:cNvSpPr/>
          <p:nvPr/>
        </p:nvSpPr>
        <p:spPr>
          <a:xfrm>
            <a:off x="1554480" y="3931920"/>
            <a:ext cx="3749039" cy="201168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4023360"/>
            <a:ext cx="3749039" cy="365760"/>
          </a:xfrm>
          <a:prstGeom prst="rect">
            <a:avLst/>
          </a:prstGeom>
          <a:noFill/>
        </p:spPr>
        <p:txBody>
          <a:bodyPr wrap="square" lIns="0" rIns="0" tIns="0" bIns="0" anchor="t">
            <a:spAutoFit/>
          </a:bodyPr>
          <a:lstStyle/>
          <a:p>
            <a:pPr algn="ctr">
              <a:lnSpc>
                <a:spcPct val="115000"/>
              </a:lnSpc>
            </a:pPr>
            <a:r>
              <a:rPr sz="1100" b="1" i="0">
                <a:solidFill>
                  <a:srgbClr val="0284C7"/>
                </a:solidFill>
                <a:latin typeface="Calibri"/>
              </a:rPr>
              <a:t>SYNTHESIZE + VERIFY</a:t>
            </a:r>
          </a:p>
        </p:txBody>
      </p:sp>
      <p:sp>
        <p:nvSpPr>
          <p:cNvPr id="14" name="TextBox 13"/>
          <p:cNvSpPr txBox="1"/>
          <p:nvPr/>
        </p:nvSpPr>
        <p:spPr>
          <a:xfrm>
            <a:off x="1783080" y="4389120"/>
            <a:ext cx="3383280" cy="1463040"/>
          </a:xfrm>
          <a:prstGeom prst="rect">
            <a:avLst/>
          </a:prstGeom>
          <a:noFill/>
        </p:spPr>
        <p:txBody>
          <a:bodyPr wrap="square" lIns="0" rIns="0" tIns="0" bIns="0">
            <a:spAutoFit/>
          </a:bodyPr>
          <a:lstStyle/>
          <a:p>
            <a:pPr>
              <a:lnSpc>
                <a:spcPct val="135000"/>
              </a:lnSpc>
              <a:spcAft>
                <a:spcPts val="600"/>
              </a:spcAft>
            </a:pPr>
            <a:r>
              <a:rPr sz="1100" b="1">
                <a:solidFill>
                  <a:srgbClr val="0284C7"/>
                </a:solidFill>
                <a:latin typeface="Calibri"/>
              </a:rPr>
              <a:t>•  </a:t>
            </a:r>
            <a:r>
              <a:rPr sz="1100" b="1">
                <a:solidFill>
                  <a:srgbClr val="0F172A"/>
                </a:solidFill>
                <a:latin typeface="Calibri"/>
              </a:rPr>
              <a:t>Gemini 2.5 Flash-Lite  </a:t>
            </a:r>
            <a:r>
              <a:rPr sz="1100">
                <a:solidFill>
                  <a:srgbClr val="0F172A"/>
                </a:solidFill>
                <a:latin typeface="Calibri"/>
              </a:rPr>
              <a:t>synth, chunks-only</a:t>
            </a:r>
          </a:p>
          <a:p>
            <a:pPr>
              <a:lnSpc>
                <a:spcPct val="135000"/>
              </a:lnSpc>
              <a:spcAft>
                <a:spcPts val="600"/>
              </a:spcAft>
            </a:pPr>
            <a:r>
              <a:rPr sz="1100" b="1">
                <a:solidFill>
                  <a:srgbClr val="0284C7"/>
                </a:solidFill>
                <a:latin typeface="Calibri"/>
              </a:rPr>
              <a:t>•  </a:t>
            </a:r>
            <a:r>
              <a:rPr sz="1100" b="1">
                <a:solidFill>
                  <a:srgbClr val="0F172A"/>
                </a:solidFill>
                <a:latin typeface="Calibri"/>
              </a:rPr>
              <a:t>Llama 3.3 70B (Groq)  </a:t>
            </a:r>
            <a:r>
              <a:rPr sz="1100">
                <a:solidFill>
                  <a:srgbClr val="0F172A"/>
                </a:solidFill>
                <a:latin typeface="Calibri"/>
              </a:rPr>
              <a:t>verify, JSON output</a:t>
            </a:r>
          </a:p>
          <a:p>
            <a:pPr>
              <a:lnSpc>
                <a:spcPct val="135000"/>
              </a:lnSpc>
              <a:spcAft>
                <a:spcPts val="600"/>
              </a:spcAft>
            </a:pPr>
            <a:r>
              <a:rPr sz="1100" b="1">
                <a:solidFill>
                  <a:srgbClr val="0284C7"/>
                </a:solidFill>
                <a:latin typeface="Calibri"/>
              </a:rPr>
              <a:t>•  </a:t>
            </a:r>
            <a:r>
              <a:rPr sz="1100" b="1">
                <a:solidFill>
                  <a:srgbClr val="0F172A"/>
                </a:solidFill>
                <a:latin typeface="Calibri"/>
              </a:rPr>
              <a:t>conf ≥ 0.75  </a:t>
            </a:r>
            <a:r>
              <a:rPr sz="1100">
                <a:solidFill>
                  <a:srgbClr val="0F172A"/>
                </a:solidFill>
                <a:latin typeface="Calibri"/>
              </a:rPr>
              <a:t>→ answer, else abstain</a:t>
            </a:r>
          </a:p>
        </p:txBody>
      </p:sp>
      <p:sp>
        <p:nvSpPr>
          <p:cNvPr id="15" name="TextBox 14"/>
          <p:cNvSpPr txBox="1"/>
          <p:nvPr/>
        </p:nvSpPr>
        <p:spPr>
          <a:xfrm>
            <a:off x="7132320" y="3520440"/>
            <a:ext cx="3200400" cy="365760"/>
          </a:xfrm>
          <a:prstGeom prst="rect">
            <a:avLst/>
          </a:prstGeom>
          <a:noFill/>
        </p:spPr>
        <p:txBody>
          <a:bodyPr wrap="square" lIns="0" rIns="0" tIns="0" bIns="0" anchor="t">
            <a:spAutoFit/>
          </a:bodyPr>
          <a:lstStyle/>
          <a:p>
            <a:pPr algn="ctr">
              <a:lnSpc>
                <a:spcPct val="115000"/>
              </a:lnSpc>
            </a:pPr>
            <a:r>
              <a:rPr sz="1200" b="1" i="0">
                <a:solidFill>
                  <a:srgbClr val="0F172A"/>
                </a:solidFill>
                <a:latin typeface="Calibri"/>
              </a:rPr>
              <a:t>↓  Not found  (doctor clicks)</a:t>
            </a:r>
          </a:p>
        </p:txBody>
      </p:sp>
      <p:sp>
        <p:nvSpPr>
          <p:cNvPr id="16" name="Rectangle 15"/>
          <p:cNvSpPr/>
          <p:nvPr/>
        </p:nvSpPr>
        <p:spPr>
          <a:xfrm>
            <a:off x="6858000" y="3931920"/>
            <a:ext cx="3749039" cy="2011680"/>
          </a:xfrm>
          <a:prstGeom prst="rect">
            <a:avLst/>
          </a:prstGeom>
          <a:solidFill>
            <a:srgbClr val="F8FAFC"/>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4023360"/>
            <a:ext cx="3749039" cy="365760"/>
          </a:xfrm>
          <a:prstGeom prst="rect">
            <a:avLst/>
          </a:prstGeom>
          <a:noFill/>
        </p:spPr>
        <p:txBody>
          <a:bodyPr wrap="square" lIns="0" rIns="0" tIns="0" bIns="0" anchor="t">
            <a:spAutoFit/>
          </a:bodyPr>
          <a:lstStyle/>
          <a:p>
            <a:pPr algn="ctr">
              <a:lnSpc>
                <a:spcPct val="115000"/>
              </a:lnSpc>
            </a:pPr>
            <a:r>
              <a:rPr sz="1100" b="1" i="0">
                <a:solidFill>
                  <a:srgbClr val="059669"/>
                </a:solidFill>
                <a:latin typeface="Calibri"/>
              </a:rPr>
              <a:t>TIER 2 — LIVE PUBMED  ·  ~20 sec</a:t>
            </a:r>
          </a:p>
        </p:txBody>
      </p:sp>
      <p:sp>
        <p:nvSpPr>
          <p:cNvPr id="18" name="TextBox 17"/>
          <p:cNvSpPr txBox="1"/>
          <p:nvPr/>
        </p:nvSpPr>
        <p:spPr>
          <a:xfrm>
            <a:off x="7086600" y="4389120"/>
            <a:ext cx="3383280" cy="1463040"/>
          </a:xfrm>
          <a:prstGeom prst="rect">
            <a:avLst/>
          </a:prstGeom>
          <a:noFill/>
        </p:spPr>
        <p:txBody>
          <a:bodyPr wrap="square" lIns="0" rIns="0" tIns="0" bIns="0">
            <a:spAutoFit/>
          </a:bodyPr>
          <a:lstStyle/>
          <a:p>
            <a:pPr>
              <a:lnSpc>
                <a:spcPct val="135000"/>
              </a:lnSpc>
              <a:spcAft>
                <a:spcPts val="600"/>
              </a:spcAft>
            </a:pPr>
            <a:r>
              <a:rPr sz="1100" b="1">
                <a:solidFill>
                  <a:srgbClr val="0284C7"/>
                </a:solidFill>
                <a:latin typeface="Calibri"/>
              </a:rPr>
              <a:t>•  </a:t>
            </a:r>
            <a:r>
              <a:rPr sz="1100" b="1">
                <a:solidFill>
                  <a:srgbClr val="0F172A"/>
                </a:solidFill>
                <a:latin typeface="Calibri"/>
              </a:rPr>
              <a:t>PubMed E-utilities  </a:t>
            </a:r>
            <a:r>
              <a:rPr sz="1100">
                <a:solidFill>
                  <a:srgbClr val="0F172A"/>
                </a:solidFill>
                <a:latin typeface="Calibri"/>
              </a:rPr>
              <a:t>esearch + efetch top-10</a:t>
            </a:r>
          </a:p>
          <a:p>
            <a:pPr>
              <a:lnSpc>
                <a:spcPct val="135000"/>
              </a:lnSpc>
              <a:spcAft>
                <a:spcPts val="600"/>
              </a:spcAft>
            </a:pPr>
            <a:r>
              <a:rPr sz="1100" b="1">
                <a:solidFill>
                  <a:srgbClr val="0284C7"/>
                </a:solidFill>
                <a:latin typeface="Calibri"/>
              </a:rPr>
              <a:t>•  </a:t>
            </a:r>
            <a:r>
              <a:rPr sz="1100" b="1">
                <a:solidFill>
                  <a:srgbClr val="0F172A"/>
                </a:solidFill>
                <a:latin typeface="Calibri"/>
              </a:rPr>
              <a:t>Same synth + verify  </a:t>
            </a:r>
            <a:r>
              <a:rPr sz="1100">
                <a:solidFill>
                  <a:srgbClr val="0F172A"/>
                </a:solidFill>
                <a:latin typeface="Calibri"/>
              </a:rPr>
              <a:t>pipeline reused</a:t>
            </a:r>
          </a:p>
          <a:p>
            <a:pPr>
              <a:lnSpc>
                <a:spcPct val="135000"/>
              </a:lnSpc>
              <a:spcAft>
                <a:spcPts val="600"/>
              </a:spcAft>
            </a:pPr>
            <a:r>
              <a:rPr sz="1100" b="1">
                <a:solidFill>
                  <a:srgbClr val="0284C7"/>
                </a:solidFill>
                <a:latin typeface="Calibri"/>
              </a:rPr>
              <a:t>•  </a:t>
            </a:r>
            <a:r>
              <a:rPr sz="1100" b="1">
                <a:solidFill>
                  <a:srgbClr val="0F172A"/>
                </a:solidFill>
                <a:latin typeface="Calibri"/>
              </a:rPr>
              <a:t>Write-back  </a:t>
            </a:r>
            <a:r>
              <a:rPr sz="1100">
                <a:solidFill>
                  <a:srgbClr val="0F172A"/>
                </a:solidFill>
                <a:latin typeface="Calibri"/>
              </a:rPr>
              <a:t>→ next ask hits Tier 1</a:t>
            </a:r>
          </a:p>
        </p:txBody>
      </p:sp>
      <p:sp>
        <p:nvSpPr>
          <p:cNvPr id="19" name="Rectangle 18"/>
          <p:cNvSpPr/>
          <p:nvPr/>
        </p:nvSpPr>
        <p:spPr>
          <a:xfrm>
            <a:off x="0" y="6565392"/>
            <a:ext cx="12191695"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601968"/>
            <a:ext cx="7315200" cy="274320"/>
          </a:xfrm>
          <a:prstGeom prst="rect">
            <a:avLst/>
          </a:prstGeom>
          <a:noFill/>
        </p:spPr>
        <p:txBody>
          <a:bodyPr wrap="square" lIns="0" rIns="0" tIns="0" bIns="0" anchor="t">
            <a:spAutoFit/>
          </a:bodyPr>
          <a:lstStyle/>
          <a:p>
            <a:pPr algn="l">
              <a:lnSpc>
                <a:spcPct val="115000"/>
              </a:lnSpc>
            </a:pPr>
            <a:r>
              <a:rPr sz="1000" b="0" i="0">
                <a:solidFill>
                  <a:srgbClr val="64748B"/>
                </a:solidFill>
                <a:latin typeface="Calibri"/>
              </a:rPr>
              <a:t>MedCite  ·  Jubilant Pharma Hackathon  ·  abhi04-medcite.vercel.app</a:t>
            </a:r>
          </a:p>
        </p:txBody>
      </p:sp>
      <p:sp>
        <p:nvSpPr>
          <p:cNvPr id="21" name="TextBox 20"/>
          <p:cNvSpPr txBox="1"/>
          <p:nvPr/>
        </p:nvSpPr>
        <p:spPr>
          <a:xfrm>
            <a:off x="9601200" y="6601968"/>
            <a:ext cx="2103120" cy="274320"/>
          </a:xfrm>
          <a:prstGeom prst="rect">
            <a:avLst/>
          </a:prstGeom>
          <a:noFill/>
        </p:spPr>
        <p:txBody>
          <a:bodyPr wrap="square" lIns="0" rIns="0" tIns="0" bIns="0" anchor="t">
            <a:spAutoFit/>
          </a:bodyPr>
          <a:lstStyle/>
          <a:p>
            <a:pPr algn="r">
              <a:lnSpc>
                <a:spcPct val="115000"/>
              </a:lnSpc>
            </a:pPr>
            <a:r>
              <a:rPr sz="1000" b="0" i="0">
                <a:solidFill>
                  <a:srgbClr val="64748B"/>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64592"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7315200" cy="292608"/>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SWITCH TO BROWSER</a:t>
            </a:r>
          </a:p>
        </p:txBody>
      </p:sp>
      <p:sp>
        <p:nvSpPr>
          <p:cNvPr id="4" name="TextBox 3"/>
          <p:cNvSpPr txBox="1"/>
          <p:nvPr/>
        </p:nvSpPr>
        <p:spPr>
          <a:xfrm>
            <a:off x="868680" y="777240"/>
            <a:ext cx="10515600" cy="640080"/>
          </a:xfrm>
          <a:prstGeom prst="rect">
            <a:avLst/>
          </a:prstGeom>
          <a:noFill/>
        </p:spPr>
        <p:txBody>
          <a:bodyPr wrap="square" lIns="0" rIns="0" tIns="0" bIns="0" anchor="t">
            <a:spAutoFit/>
          </a:bodyPr>
          <a:lstStyle/>
          <a:p>
            <a:pPr algn="l">
              <a:lnSpc>
                <a:spcPct val="115000"/>
              </a:lnSpc>
            </a:pPr>
            <a:r>
              <a:rPr sz="3200" b="1" i="0">
                <a:solidFill>
                  <a:srgbClr val="0F172A"/>
                </a:solidFill>
                <a:latin typeface="Calibri"/>
              </a:rPr>
              <a:t>Live demo.</a:t>
            </a:r>
          </a:p>
        </p:txBody>
      </p:sp>
      <p:sp>
        <p:nvSpPr>
          <p:cNvPr id="5" name="TextBox 4"/>
          <p:cNvSpPr txBox="1"/>
          <p:nvPr/>
        </p:nvSpPr>
        <p:spPr>
          <a:xfrm>
            <a:off x="868680" y="1783080"/>
            <a:ext cx="6400800" cy="365760"/>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FOUR HERO QUERIES</a:t>
            </a:r>
          </a:p>
        </p:txBody>
      </p:sp>
      <p:sp>
        <p:nvSpPr>
          <p:cNvPr id="6" name="TextBox 5"/>
          <p:cNvSpPr txBox="1"/>
          <p:nvPr/>
        </p:nvSpPr>
        <p:spPr>
          <a:xfrm>
            <a:off x="868680" y="2148840"/>
            <a:ext cx="6400800" cy="3657600"/>
          </a:xfrm>
          <a:prstGeom prst="rect">
            <a:avLst/>
          </a:prstGeom>
          <a:noFill/>
        </p:spPr>
        <p:txBody>
          <a:bodyPr wrap="square" lIns="0" rIns="0" tIns="0" bIns="0">
            <a:spAutoFit/>
          </a:bodyPr>
          <a:lstStyle/>
          <a:p>
            <a:pPr>
              <a:lnSpc>
                <a:spcPct val="155000"/>
              </a:lnSpc>
              <a:spcAft>
                <a:spcPts val="600"/>
              </a:spcAft>
            </a:pPr>
            <a:r>
              <a:rPr sz="1500" b="1">
                <a:solidFill>
                  <a:srgbClr val="0284C7"/>
                </a:solidFill>
                <a:latin typeface="Calibri"/>
              </a:rPr>
              <a:t>•  </a:t>
            </a:r>
            <a:r>
              <a:rPr sz="1500" b="1">
                <a:solidFill>
                  <a:srgbClr val="0F172A"/>
                </a:solidFill>
                <a:latin typeface="Calibri"/>
              </a:rPr>
              <a:t>#1 Empagliflozin / HFpEF  </a:t>
            </a:r>
            <a:r>
              <a:rPr sz="1500">
                <a:solidFill>
                  <a:srgbClr val="0F172A"/>
                </a:solidFill>
                <a:latin typeface="Calibri"/>
              </a:rPr>
              <a:t>Tier-1 hit, RCT + Review badges, conf 0.80</a:t>
            </a:r>
          </a:p>
          <a:p>
            <a:pPr>
              <a:lnSpc>
                <a:spcPct val="155000"/>
              </a:lnSpc>
              <a:spcAft>
                <a:spcPts val="600"/>
              </a:spcAft>
            </a:pPr>
            <a:r>
              <a:rPr sz="1500" b="1">
                <a:solidFill>
                  <a:srgbClr val="0284C7"/>
                </a:solidFill>
                <a:latin typeface="Calibri"/>
              </a:rPr>
              <a:t>•  </a:t>
            </a:r>
            <a:r>
              <a:rPr sz="1500" b="1">
                <a:solidFill>
                  <a:srgbClr val="0F172A"/>
                </a:solidFill>
                <a:latin typeface="Calibri"/>
              </a:rPr>
              <a:t>#2 Drug-resistant TB 2024  </a:t>
            </a:r>
            <a:r>
              <a:rPr sz="1500">
                <a:solidFill>
                  <a:srgbClr val="0F172A"/>
                </a:solidFill>
                <a:latin typeface="Calibri"/>
              </a:rPr>
              <a:t>self-improvement story — yesterday missed, today instant</a:t>
            </a:r>
          </a:p>
          <a:p>
            <a:pPr>
              <a:lnSpc>
                <a:spcPct val="155000"/>
              </a:lnSpc>
              <a:spcAft>
                <a:spcPts val="600"/>
              </a:spcAft>
            </a:pPr>
            <a:r>
              <a:rPr sz="1500" b="1">
                <a:solidFill>
                  <a:srgbClr val="0284C7"/>
                </a:solidFill>
                <a:latin typeface="Calibri"/>
              </a:rPr>
              <a:t>•  </a:t>
            </a:r>
            <a:r>
              <a:rPr sz="1500" b="1">
                <a:solidFill>
                  <a:srgbClr val="0F172A"/>
                </a:solidFill>
                <a:latin typeface="Calibri"/>
              </a:rPr>
              <a:t>#3 Levetiracetam status epilepticus  </a:t>
            </a:r>
            <a:r>
              <a:rPr sz="1500">
                <a:solidFill>
                  <a:srgbClr val="0F172A"/>
                </a:solidFill>
                <a:latin typeface="Calibri"/>
              </a:rPr>
              <a:t>live multi-AI: PubMed → Gemini → Llama, ~20 sec</a:t>
            </a:r>
          </a:p>
          <a:p>
            <a:pPr>
              <a:lnSpc>
                <a:spcPct val="155000"/>
              </a:lnSpc>
              <a:spcAft>
                <a:spcPts val="600"/>
              </a:spcAft>
            </a:pPr>
            <a:r>
              <a:rPr sz="1500" b="1">
                <a:solidFill>
                  <a:srgbClr val="0284C7"/>
                </a:solidFill>
                <a:latin typeface="Calibri"/>
              </a:rPr>
              <a:t>•  </a:t>
            </a:r>
            <a:r>
              <a:rPr sz="1500" b="1">
                <a:solidFill>
                  <a:srgbClr val="0F172A"/>
                </a:solidFill>
                <a:latin typeface="Calibri"/>
              </a:rPr>
              <a:t>#4 Acetaminophen in 3rd trimester  </a:t>
            </a:r>
            <a:r>
              <a:rPr sz="1500">
                <a:solidFill>
                  <a:srgbClr val="0F172A"/>
                </a:solidFill>
                <a:latin typeface="Calibri"/>
              </a:rPr>
              <a:t>honest abstention — "closest match scored 0.45"</a:t>
            </a:r>
          </a:p>
        </p:txBody>
      </p:sp>
      <p:sp>
        <p:nvSpPr>
          <p:cNvPr id="7" name="Rectangle 6"/>
          <p:cNvSpPr/>
          <p:nvPr/>
        </p:nvSpPr>
        <p:spPr>
          <a:xfrm>
            <a:off x="868680" y="5806440"/>
            <a:ext cx="6400800" cy="5943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806440"/>
            <a:ext cx="6400800" cy="594360"/>
          </a:xfrm>
          <a:prstGeom prst="rect">
            <a:avLst/>
          </a:prstGeom>
          <a:noFill/>
        </p:spPr>
        <p:txBody>
          <a:bodyPr wrap="square" lIns="0" rIns="0" tIns="0" bIns="0" anchor="ctr">
            <a:spAutoFit/>
          </a:bodyPr>
          <a:lstStyle/>
          <a:p>
            <a:pPr algn="ctr">
              <a:lnSpc>
                <a:spcPct val="115000"/>
              </a:lnSpc>
            </a:pPr>
            <a:r>
              <a:rPr sz="1800" b="1" i="0">
                <a:solidFill>
                  <a:srgbClr val="FFFFFF"/>
                </a:solidFill>
                <a:latin typeface="Calibri"/>
              </a:rPr>
              <a:t>abhi04-medcite.vercel.app</a:t>
            </a:r>
          </a:p>
        </p:txBody>
      </p:sp>
      <p:sp>
        <p:nvSpPr>
          <p:cNvPr id="9" name="TextBox 8"/>
          <p:cNvSpPr txBox="1"/>
          <p:nvPr/>
        </p:nvSpPr>
        <p:spPr>
          <a:xfrm>
            <a:off x="7498079" y="1783080"/>
            <a:ext cx="4114800" cy="365760"/>
          </a:xfrm>
          <a:prstGeom prst="rect">
            <a:avLst/>
          </a:prstGeom>
          <a:noFill/>
        </p:spPr>
        <p:txBody>
          <a:bodyPr wrap="square" lIns="0" rIns="0" tIns="0" bIns="0" anchor="t">
            <a:spAutoFit/>
          </a:bodyPr>
          <a:lstStyle/>
          <a:p>
            <a:pPr algn="l">
              <a:lnSpc>
                <a:spcPct val="115000"/>
              </a:lnSpc>
            </a:pPr>
            <a:r>
              <a:rPr sz="1100" b="1" i="0">
                <a:solidFill>
                  <a:srgbClr val="D97706"/>
                </a:solidFill>
                <a:latin typeface="Calibri"/>
              </a:rPr>
              <a:t>WHAT JUDGES WILL SEE ON #4</a:t>
            </a:r>
          </a:p>
        </p:txBody>
      </p:sp>
      <p:sp>
        <p:nvSpPr>
          <p:cNvPr id="10" name="Rectangle 9"/>
          <p:cNvSpPr/>
          <p:nvPr/>
        </p:nvSpPr>
        <p:spPr>
          <a:xfrm>
            <a:off x="7498079" y="2148840"/>
            <a:ext cx="4114800" cy="384048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2514600"/>
            <a:ext cx="4114800" cy="457200"/>
          </a:xfrm>
          <a:prstGeom prst="rect">
            <a:avLst/>
          </a:prstGeom>
          <a:noFill/>
        </p:spPr>
        <p:txBody>
          <a:bodyPr wrap="square" lIns="0" rIns="0" tIns="0" bIns="0" anchor="t">
            <a:spAutoFit/>
          </a:bodyPr>
          <a:lstStyle/>
          <a:p>
            <a:pPr algn="ctr">
              <a:lnSpc>
                <a:spcPct val="115000"/>
              </a:lnSpc>
            </a:pPr>
            <a:r>
              <a:rPr sz="1400" b="1" i="0">
                <a:solidFill>
                  <a:srgbClr val="64748B"/>
                </a:solidFill>
                <a:latin typeface="Calibri"/>
              </a:rPr>
              <a:t>[ screenshot ]</a:t>
            </a:r>
          </a:p>
        </p:txBody>
      </p:sp>
      <p:sp>
        <p:nvSpPr>
          <p:cNvPr id="12" name="TextBox 11"/>
          <p:cNvSpPr txBox="1"/>
          <p:nvPr/>
        </p:nvSpPr>
        <p:spPr>
          <a:xfrm>
            <a:off x="7772399" y="3063240"/>
            <a:ext cx="3566160" cy="1280160"/>
          </a:xfrm>
          <a:prstGeom prst="rect">
            <a:avLst/>
          </a:prstGeom>
          <a:noFill/>
        </p:spPr>
        <p:txBody>
          <a:bodyPr wrap="square" lIns="0" rIns="0" tIns="0" bIns="0" anchor="t">
            <a:spAutoFit/>
          </a:bodyPr>
          <a:lstStyle/>
          <a:p>
            <a:pPr algn="ctr">
              <a:lnSpc>
                <a:spcPct val="140000"/>
              </a:lnSpc>
            </a:pPr>
            <a:r>
              <a:rPr sz="1100" b="0" i="0">
                <a:solidFill>
                  <a:srgbClr val="64748B"/>
                </a:solidFill>
                <a:latin typeface="Calibri"/>
              </a:rPr>
              <a:t>Drop file at:</a:t>
            </a:r>
          </a:p>
          <a:p>
            <a:pPr algn="ctr">
              <a:lnSpc>
                <a:spcPct val="140000"/>
              </a:lnSpc>
            </a:pPr>
            <a:r>
              <a:rPr sz="1100" b="0" i="0">
                <a:solidFill>
                  <a:srgbClr val="64748B"/>
                </a:solidFill>
                <a:latin typeface="Calibri"/>
              </a:rPr>
              <a:t>deck/screenshots/hero5-acetaminophen-abstain.png</a:t>
            </a:r>
          </a:p>
          <a:p>
            <a:pPr algn="ctr">
              <a:lnSpc>
                <a:spcPct val="140000"/>
              </a:lnSpc>
            </a:pPr>
            <a:r>
              <a:rPr sz="1100" b="0" i="0">
                <a:solidFill>
                  <a:srgbClr val="64748B"/>
                </a:solidFill>
                <a:latin typeface="Calibri"/>
              </a:rPr>
              <a:t/>
            </a:r>
          </a:p>
          <a:p>
            <a:pPr algn="ctr">
              <a:lnSpc>
                <a:spcPct val="140000"/>
              </a:lnSpc>
            </a:pPr>
            <a:r>
              <a:rPr sz="1100" b="0" i="0">
                <a:solidFill>
                  <a:srgbClr val="64748B"/>
                </a:solidFill>
                <a:latin typeface="Calibri"/>
              </a:rPr>
              <a:t>Open hero #5 (acetaminophen / 3rd trimester pregnancy). Wait for the amber abstention screen with "closest match scored 0.45". Screenshot the full abstention card.</a:t>
            </a:r>
          </a:p>
        </p:txBody>
      </p:sp>
      <p:sp>
        <p:nvSpPr>
          <p:cNvPr id="13" name="TextBox 12"/>
          <p:cNvSpPr txBox="1"/>
          <p:nvPr/>
        </p:nvSpPr>
        <p:spPr>
          <a:xfrm>
            <a:off x="7498079" y="6080760"/>
            <a:ext cx="4114800" cy="365760"/>
          </a:xfrm>
          <a:prstGeom prst="rect">
            <a:avLst/>
          </a:prstGeom>
          <a:noFill/>
        </p:spPr>
        <p:txBody>
          <a:bodyPr wrap="square" lIns="0" rIns="0" tIns="0" bIns="0" anchor="t">
            <a:spAutoFit/>
          </a:bodyPr>
          <a:lstStyle/>
          <a:p>
            <a:pPr algn="ctr">
              <a:lnSpc>
                <a:spcPct val="115000"/>
              </a:lnSpc>
            </a:pPr>
            <a:r>
              <a:rPr sz="1100" b="0" i="1">
                <a:solidFill>
                  <a:srgbClr val="64748B"/>
                </a:solidFill>
                <a:latin typeface="Calibri"/>
              </a:rPr>
              <a:t>The abstention IS the feature.</a:t>
            </a:r>
          </a:p>
        </p:txBody>
      </p:sp>
      <p:sp>
        <p:nvSpPr>
          <p:cNvPr id="14" name="Rectangle 13"/>
          <p:cNvSpPr/>
          <p:nvPr/>
        </p:nvSpPr>
        <p:spPr>
          <a:xfrm>
            <a:off x="0" y="6565392"/>
            <a:ext cx="12191695"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601968"/>
            <a:ext cx="7315200" cy="274320"/>
          </a:xfrm>
          <a:prstGeom prst="rect">
            <a:avLst/>
          </a:prstGeom>
          <a:noFill/>
        </p:spPr>
        <p:txBody>
          <a:bodyPr wrap="square" lIns="0" rIns="0" tIns="0" bIns="0" anchor="t">
            <a:spAutoFit/>
          </a:bodyPr>
          <a:lstStyle/>
          <a:p>
            <a:pPr algn="l">
              <a:lnSpc>
                <a:spcPct val="115000"/>
              </a:lnSpc>
            </a:pPr>
            <a:r>
              <a:rPr sz="1000" b="0" i="0">
                <a:solidFill>
                  <a:srgbClr val="64748B"/>
                </a:solidFill>
                <a:latin typeface="Calibri"/>
              </a:rPr>
              <a:t>MedCite  ·  Jubilant Pharma Hackathon  ·  abhi04-medcite.vercel.app</a:t>
            </a:r>
          </a:p>
        </p:txBody>
      </p:sp>
      <p:sp>
        <p:nvSpPr>
          <p:cNvPr id="16" name="TextBox 15"/>
          <p:cNvSpPr txBox="1"/>
          <p:nvPr/>
        </p:nvSpPr>
        <p:spPr>
          <a:xfrm>
            <a:off x="9601200" y="6601968"/>
            <a:ext cx="2103120" cy="274320"/>
          </a:xfrm>
          <a:prstGeom prst="rect">
            <a:avLst/>
          </a:prstGeom>
          <a:noFill/>
        </p:spPr>
        <p:txBody>
          <a:bodyPr wrap="square" lIns="0" rIns="0" tIns="0" bIns="0" anchor="t">
            <a:spAutoFit/>
          </a:bodyPr>
          <a:lstStyle/>
          <a:p>
            <a:pPr algn="r">
              <a:lnSpc>
                <a:spcPct val="115000"/>
              </a:lnSpc>
            </a:pPr>
            <a:r>
              <a:rPr sz="1000" b="0" i="0">
                <a:solidFill>
                  <a:srgbClr val="64748B"/>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64592"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7315200" cy="292608"/>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BY THE NUMBERS</a:t>
            </a:r>
          </a:p>
        </p:txBody>
      </p:sp>
      <p:sp>
        <p:nvSpPr>
          <p:cNvPr id="4" name="TextBox 3"/>
          <p:cNvSpPr txBox="1"/>
          <p:nvPr/>
        </p:nvSpPr>
        <p:spPr>
          <a:xfrm>
            <a:off x="868680" y="777240"/>
            <a:ext cx="10515600" cy="640080"/>
          </a:xfrm>
          <a:prstGeom prst="rect">
            <a:avLst/>
          </a:prstGeom>
          <a:noFill/>
        </p:spPr>
        <p:txBody>
          <a:bodyPr wrap="square" lIns="0" rIns="0" tIns="0" bIns="0" anchor="t">
            <a:spAutoFit/>
          </a:bodyPr>
          <a:lstStyle/>
          <a:p>
            <a:pPr algn="l">
              <a:lnSpc>
                <a:spcPct val="115000"/>
              </a:lnSpc>
            </a:pPr>
            <a:r>
              <a:rPr sz="3200" b="1" i="0">
                <a:solidFill>
                  <a:srgbClr val="0F172A"/>
                </a:solidFill>
                <a:latin typeface="Calibri"/>
              </a:rPr>
              <a:t>The numbers.</a:t>
            </a:r>
          </a:p>
        </p:txBody>
      </p:sp>
      <p:sp>
        <p:nvSpPr>
          <p:cNvPr id="5" name="Rectangle 4"/>
          <p:cNvSpPr/>
          <p:nvPr/>
        </p:nvSpPr>
        <p:spPr>
          <a:xfrm>
            <a:off x="868680" y="1828800"/>
            <a:ext cx="2606040" cy="19659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828800"/>
            <a:ext cx="260604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03120"/>
            <a:ext cx="2606040" cy="914400"/>
          </a:xfrm>
          <a:prstGeom prst="rect">
            <a:avLst/>
          </a:prstGeom>
          <a:noFill/>
        </p:spPr>
        <p:txBody>
          <a:bodyPr wrap="square" lIns="0" rIns="0" tIns="0" bIns="0" anchor="ctr">
            <a:spAutoFit/>
          </a:bodyPr>
          <a:lstStyle/>
          <a:p>
            <a:pPr algn="ctr">
              <a:lnSpc>
                <a:spcPct val="115000"/>
              </a:lnSpc>
            </a:pPr>
            <a:r>
              <a:rPr sz="3600" b="1" i="0">
                <a:solidFill>
                  <a:srgbClr val="0284C7"/>
                </a:solidFill>
                <a:latin typeface="Calibri"/>
              </a:rPr>
              <a:t>17,456</a:t>
            </a:r>
          </a:p>
        </p:txBody>
      </p:sp>
      <p:sp>
        <p:nvSpPr>
          <p:cNvPr id="8" name="TextBox 7"/>
          <p:cNvSpPr txBox="1"/>
          <p:nvPr/>
        </p:nvSpPr>
        <p:spPr>
          <a:xfrm>
            <a:off x="1005840" y="3017520"/>
            <a:ext cx="2331720" cy="731520"/>
          </a:xfrm>
          <a:prstGeom prst="rect">
            <a:avLst/>
          </a:prstGeom>
          <a:noFill/>
        </p:spPr>
        <p:txBody>
          <a:bodyPr wrap="square" lIns="0" rIns="0" tIns="0" bIns="0" anchor="t">
            <a:spAutoFit/>
          </a:bodyPr>
          <a:lstStyle/>
          <a:p>
            <a:pPr algn="ctr">
              <a:lnSpc>
                <a:spcPct val="130000"/>
              </a:lnSpc>
            </a:pPr>
            <a:r>
              <a:rPr sz="1100" b="0" i="0">
                <a:solidFill>
                  <a:srgbClr val="0F172A"/>
                </a:solidFill>
                <a:latin typeface="Calibri"/>
              </a:rPr>
              <a:t>chunks in the</a:t>
            </a:r>
          </a:p>
          <a:p>
            <a:pPr algn="ctr">
              <a:lnSpc>
                <a:spcPct val="130000"/>
              </a:lnSpc>
            </a:pPr>
            <a:r>
              <a:rPr sz="1100" b="0" i="0">
                <a:solidFill>
                  <a:srgbClr val="0F172A"/>
                </a:solidFill>
                <a:latin typeface="Calibri"/>
              </a:rPr>
              <a:t>pre-indexed cache</a:t>
            </a:r>
          </a:p>
        </p:txBody>
      </p:sp>
      <p:sp>
        <p:nvSpPr>
          <p:cNvPr id="9" name="Rectangle 8"/>
          <p:cNvSpPr/>
          <p:nvPr/>
        </p:nvSpPr>
        <p:spPr>
          <a:xfrm>
            <a:off x="3639312" y="1828800"/>
            <a:ext cx="2606040" cy="19659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39312" y="1828800"/>
            <a:ext cx="260604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2103120"/>
            <a:ext cx="2606040" cy="914400"/>
          </a:xfrm>
          <a:prstGeom prst="rect">
            <a:avLst/>
          </a:prstGeom>
          <a:noFill/>
        </p:spPr>
        <p:txBody>
          <a:bodyPr wrap="square" lIns="0" rIns="0" tIns="0" bIns="0" anchor="ctr">
            <a:spAutoFit/>
          </a:bodyPr>
          <a:lstStyle/>
          <a:p>
            <a:pPr algn="ctr">
              <a:lnSpc>
                <a:spcPct val="115000"/>
              </a:lnSpc>
            </a:pPr>
            <a:r>
              <a:rPr sz="3600" b="1" i="0">
                <a:solidFill>
                  <a:srgbClr val="0284C7"/>
                </a:solidFill>
                <a:latin typeface="Calibri"/>
              </a:rPr>
              <a:t>~10,000</a:t>
            </a:r>
          </a:p>
        </p:txBody>
      </p:sp>
      <p:sp>
        <p:nvSpPr>
          <p:cNvPr id="12" name="TextBox 11"/>
          <p:cNvSpPr txBox="1"/>
          <p:nvPr/>
        </p:nvSpPr>
        <p:spPr>
          <a:xfrm>
            <a:off x="3776472" y="3017520"/>
            <a:ext cx="2331720" cy="731520"/>
          </a:xfrm>
          <a:prstGeom prst="rect">
            <a:avLst/>
          </a:prstGeom>
          <a:noFill/>
        </p:spPr>
        <p:txBody>
          <a:bodyPr wrap="square" lIns="0" rIns="0" tIns="0" bIns="0" anchor="t">
            <a:spAutoFit/>
          </a:bodyPr>
          <a:lstStyle/>
          <a:p>
            <a:pPr algn="ctr">
              <a:lnSpc>
                <a:spcPct val="130000"/>
              </a:lnSpc>
            </a:pPr>
            <a:r>
              <a:rPr sz="1100" b="0" i="0">
                <a:solidFill>
                  <a:srgbClr val="0F172A"/>
                </a:solidFill>
                <a:latin typeface="Calibri"/>
              </a:rPr>
              <a:t>PubMed abstracts</a:t>
            </a:r>
          </a:p>
          <a:p>
            <a:pPr algn="ctr">
              <a:lnSpc>
                <a:spcPct val="130000"/>
              </a:lnSpc>
            </a:pPr>
            <a:r>
              <a:rPr sz="1100" b="0" i="0">
                <a:solidFill>
                  <a:srgbClr val="0F172A"/>
                </a:solidFill>
                <a:latin typeface="Calibri"/>
              </a:rPr>
              <a:t>(Diabetes + Cardiology)</a:t>
            </a:r>
          </a:p>
        </p:txBody>
      </p:sp>
      <p:sp>
        <p:nvSpPr>
          <p:cNvPr id="13" name="Rectangle 12"/>
          <p:cNvSpPr/>
          <p:nvPr/>
        </p:nvSpPr>
        <p:spPr>
          <a:xfrm>
            <a:off x="6409944" y="1828800"/>
            <a:ext cx="2606040" cy="19659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9944" y="1828800"/>
            <a:ext cx="260604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2103120"/>
            <a:ext cx="2606040" cy="914400"/>
          </a:xfrm>
          <a:prstGeom prst="rect">
            <a:avLst/>
          </a:prstGeom>
          <a:noFill/>
        </p:spPr>
        <p:txBody>
          <a:bodyPr wrap="square" lIns="0" rIns="0" tIns="0" bIns="0" anchor="ctr">
            <a:spAutoFit/>
          </a:bodyPr>
          <a:lstStyle/>
          <a:p>
            <a:pPr algn="ctr">
              <a:lnSpc>
                <a:spcPct val="115000"/>
              </a:lnSpc>
            </a:pPr>
            <a:r>
              <a:rPr sz="3600" b="1" i="0">
                <a:solidFill>
                  <a:srgbClr val="0284C7"/>
                </a:solidFill>
                <a:latin typeface="Calibri"/>
              </a:rPr>
              <a:t>2</a:t>
            </a:r>
          </a:p>
        </p:txBody>
      </p:sp>
      <p:sp>
        <p:nvSpPr>
          <p:cNvPr id="16" name="TextBox 15"/>
          <p:cNvSpPr txBox="1"/>
          <p:nvPr/>
        </p:nvSpPr>
        <p:spPr>
          <a:xfrm>
            <a:off x="6547104" y="3017520"/>
            <a:ext cx="2331720" cy="731520"/>
          </a:xfrm>
          <a:prstGeom prst="rect">
            <a:avLst/>
          </a:prstGeom>
          <a:noFill/>
        </p:spPr>
        <p:txBody>
          <a:bodyPr wrap="square" lIns="0" rIns="0" tIns="0" bIns="0" anchor="t">
            <a:spAutoFit/>
          </a:bodyPr>
          <a:lstStyle/>
          <a:p>
            <a:pPr algn="ctr">
              <a:lnSpc>
                <a:spcPct val="130000"/>
              </a:lnSpc>
            </a:pPr>
            <a:r>
              <a:rPr sz="1100" b="0" i="0">
                <a:solidFill>
                  <a:srgbClr val="0F172A"/>
                </a:solidFill>
                <a:latin typeface="Calibri"/>
              </a:rPr>
              <a:t>LLM vendors for</a:t>
            </a:r>
          </a:p>
          <a:p>
            <a:pPr algn="ctr">
              <a:lnSpc>
                <a:spcPct val="130000"/>
              </a:lnSpc>
            </a:pPr>
            <a:r>
              <a:rPr sz="1100" b="0" i="0">
                <a:solidFill>
                  <a:srgbClr val="0F172A"/>
                </a:solidFill>
                <a:latin typeface="Calibri"/>
              </a:rPr>
              <a:t>cross-verification</a:t>
            </a:r>
          </a:p>
        </p:txBody>
      </p:sp>
      <p:sp>
        <p:nvSpPr>
          <p:cNvPr id="17" name="Rectangle 16"/>
          <p:cNvSpPr/>
          <p:nvPr/>
        </p:nvSpPr>
        <p:spPr>
          <a:xfrm>
            <a:off x="9180576" y="1828800"/>
            <a:ext cx="2606040" cy="19659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80576" y="1828800"/>
            <a:ext cx="260604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2103120"/>
            <a:ext cx="2606040" cy="914400"/>
          </a:xfrm>
          <a:prstGeom prst="rect">
            <a:avLst/>
          </a:prstGeom>
          <a:noFill/>
        </p:spPr>
        <p:txBody>
          <a:bodyPr wrap="square" lIns="0" rIns="0" tIns="0" bIns="0" anchor="ctr">
            <a:spAutoFit/>
          </a:bodyPr>
          <a:lstStyle/>
          <a:p>
            <a:pPr algn="ctr">
              <a:lnSpc>
                <a:spcPct val="115000"/>
              </a:lnSpc>
            </a:pPr>
            <a:r>
              <a:rPr sz="3600" b="1" i="0">
                <a:solidFill>
                  <a:srgbClr val="0284C7"/>
                </a:solidFill>
                <a:latin typeface="Calibri"/>
              </a:rPr>
              <a:t>0.75</a:t>
            </a:r>
          </a:p>
        </p:txBody>
      </p:sp>
      <p:sp>
        <p:nvSpPr>
          <p:cNvPr id="20" name="TextBox 19"/>
          <p:cNvSpPr txBox="1"/>
          <p:nvPr/>
        </p:nvSpPr>
        <p:spPr>
          <a:xfrm>
            <a:off x="9317736" y="3017520"/>
            <a:ext cx="2331720" cy="731520"/>
          </a:xfrm>
          <a:prstGeom prst="rect">
            <a:avLst/>
          </a:prstGeom>
          <a:noFill/>
        </p:spPr>
        <p:txBody>
          <a:bodyPr wrap="square" lIns="0" rIns="0" tIns="0" bIns="0" anchor="t">
            <a:spAutoFit/>
          </a:bodyPr>
          <a:lstStyle/>
          <a:p>
            <a:pPr algn="ctr">
              <a:lnSpc>
                <a:spcPct val="130000"/>
              </a:lnSpc>
            </a:pPr>
            <a:r>
              <a:rPr sz="1100" b="0" i="0">
                <a:solidFill>
                  <a:srgbClr val="0F172A"/>
                </a:solidFill>
                <a:latin typeface="Calibri"/>
              </a:rPr>
              <a:t>confidence threshold</a:t>
            </a:r>
          </a:p>
          <a:p>
            <a:pPr algn="ctr">
              <a:lnSpc>
                <a:spcPct val="130000"/>
              </a:lnSpc>
            </a:pPr>
            <a:r>
              <a:rPr sz="1100" b="0" i="0">
                <a:solidFill>
                  <a:srgbClr val="0F172A"/>
                </a:solidFill>
                <a:latin typeface="Calibri"/>
              </a:rPr>
              <a:t>to surface an answer</a:t>
            </a:r>
          </a:p>
        </p:txBody>
      </p:sp>
      <p:sp>
        <p:nvSpPr>
          <p:cNvPr id="21" name="Rectangle 20"/>
          <p:cNvSpPr/>
          <p:nvPr/>
        </p:nvSpPr>
        <p:spPr>
          <a:xfrm>
            <a:off x="868680" y="4023360"/>
            <a:ext cx="2606040" cy="19659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4023360"/>
            <a:ext cx="260604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297680"/>
            <a:ext cx="2606040" cy="914400"/>
          </a:xfrm>
          <a:prstGeom prst="rect">
            <a:avLst/>
          </a:prstGeom>
          <a:noFill/>
        </p:spPr>
        <p:txBody>
          <a:bodyPr wrap="square" lIns="0" rIns="0" tIns="0" bIns="0" anchor="ctr">
            <a:spAutoFit/>
          </a:bodyPr>
          <a:lstStyle/>
          <a:p>
            <a:pPr algn="ctr">
              <a:lnSpc>
                <a:spcPct val="115000"/>
              </a:lnSpc>
            </a:pPr>
            <a:r>
              <a:rPr sz="3600" b="1" i="0">
                <a:solidFill>
                  <a:srgbClr val="0284C7"/>
                </a:solidFill>
                <a:latin typeface="Calibri"/>
              </a:rPr>
              <a:t>2–5 sec</a:t>
            </a:r>
          </a:p>
        </p:txBody>
      </p:sp>
      <p:sp>
        <p:nvSpPr>
          <p:cNvPr id="24" name="TextBox 23"/>
          <p:cNvSpPr txBox="1"/>
          <p:nvPr/>
        </p:nvSpPr>
        <p:spPr>
          <a:xfrm>
            <a:off x="1005840" y="5212080"/>
            <a:ext cx="2331720" cy="731520"/>
          </a:xfrm>
          <a:prstGeom prst="rect">
            <a:avLst/>
          </a:prstGeom>
          <a:noFill/>
        </p:spPr>
        <p:txBody>
          <a:bodyPr wrap="square" lIns="0" rIns="0" tIns="0" bIns="0" anchor="t">
            <a:spAutoFit/>
          </a:bodyPr>
          <a:lstStyle/>
          <a:p>
            <a:pPr algn="ctr">
              <a:lnSpc>
                <a:spcPct val="130000"/>
              </a:lnSpc>
            </a:pPr>
            <a:r>
              <a:rPr sz="1100" b="0" i="0">
                <a:solidFill>
                  <a:srgbClr val="0F172A"/>
                </a:solidFill>
                <a:latin typeface="Calibri"/>
              </a:rPr>
              <a:t>Tier-1 cache-hit</a:t>
            </a:r>
          </a:p>
          <a:p>
            <a:pPr algn="ctr">
              <a:lnSpc>
                <a:spcPct val="130000"/>
              </a:lnSpc>
            </a:pPr>
            <a:r>
              <a:rPr sz="1100" b="0" i="0">
                <a:solidFill>
                  <a:srgbClr val="0F172A"/>
                </a:solidFill>
                <a:latin typeface="Calibri"/>
              </a:rPr>
              <a:t>response time</a:t>
            </a:r>
          </a:p>
        </p:txBody>
      </p:sp>
      <p:sp>
        <p:nvSpPr>
          <p:cNvPr id="25" name="Rectangle 24"/>
          <p:cNvSpPr/>
          <p:nvPr/>
        </p:nvSpPr>
        <p:spPr>
          <a:xfrm>
            <a:off x="3639312" y="4023360"/>
            <a:ext cx="2606040" cy="19659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39312" y="4023360"/>
            <a:ext cx="260604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39312" y="4297680"/>
            <a:ext cx="2606040" cy="914400"/>
          </a:xfrm>
          <a:prstGeom prst="rect">
            <a:avLst/>
          </a:prstGeom>
          <a:noFill/>
        </p:spPr>
        <p:txBody>
          <a:bodyPr wrap="square" lIns="0" rIns="0" tIns="0" bIns="0" anchor="ctr">
            <a:spAutoFit/>
          </a:bodyPr>
          <a:lstStyle/>
          <a:p>
            <a:pPr algn="ctr">
              <a:lnSpc>
                <a:spcPct val="115000"/>
              </a:lnSpc>
            </a:pPr>
            <a:r>
              <a:rPr sz="3600" b="1" i="0">
                <a:solidFill>
                  <a:srgbClr val="0284C7"/>
                </a:solidFill>
                <a:latin typeface="Calibri"/>
              </a:rPr>
              <a:t>15–25 sec</a:t>
            </a:r>
          </a:p>
        </p:txBody>
      </p:sp>
      <p:sp>
        <p:nvSpPr>
          <p:cNvPr id="28" name="TextBox 27"/>
          <p:cNvSpPr txBox="1"/>
          <p:nvPr/>
        </p:nvSpPr>
        <p:spPr>
          <a:xfrm>
            <a:off x="3776472" y="5212080"/>
            <a:ext cx="2331720" cy="731520"/>
          </a:xfrm>
          <a:prstGeom prst="rect">
            <a:avLst/>
          </a:prstGeom>
          <a:noFill/>
        </p:spPr>
        <p:txBody>
          <a:bodyPr wrap="square" lIns="0" rIns="0" tIns="0" bIns="0" anchor="t">
            <a:spAutoFit/>
          </a:bodyPr>
          <a:lstStyle/>
          <a:p>
            <a:pPr algn="ctr">
              <a:lnSpc>
                <a:spcPct val="130000"/>
              </a:lnSpc>
            </a:pPr>
            <a:r>
              <a:rPr sz="1100" b="0" i="0">
                <a:solidFill>
                  <a:srgbClr val="0F172A"/>
                </a:solidFill>
                <a:latin typeface="Calibri"/>
              </a:rPr>
              <a:t>live PubMed escalation</a:t>
            </a:r>
          </a:p>
          <a:p>
            <a:pPr algn="ctr">
              <a:lnSpc>
                <a:spcPct val="130000"/>
              </a:lnSpc>
            </a:pPr>
            <a:r>
              <a:rPr sz="1100" b="0" i="0">
                <a:solidFill>
                  <a:srgbClr val="0F172A"/>
                </a:solidFill>
                <a:latin typeface="Calibri"/>
              </a:rPr>
              <a:t>(API-bound)</a:t>
            </a:r>
          </a:p>
        </p:txBody>
      </p:sp>
      <p:sp>
        <p:nvSpPr>
          <p:cNvPr id="29" name="Rectangle 28"/>
          <p:cNvSpPr/>
          <p:nvPr/>
        </p:nvSpPr>
        <p:spPr>
          <a:xfrm>
            <a:off x="6409944" y="4023360"/>
            <a:ext cx="2606040" cy="19659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9944" y="4023360"/>
            <a:ext cx="260604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4297680"/>
            <a:ext cx="2606040" cy="914400"/>
          </a:xfrm>
          <a:prstGeom prst="rect">
            <a:avLst/>
          </a:prstGeom>
          <a:noFill/>
        </p:spPr>
        <p:txBody>
          <a:bodyPr wrap="square" lIns="0" rIns="0" tIns="0" bIns="0" anchor="ctr">
            <a:spAutoFit/>
          </a:bodyPr>
          <a:lstStyle/>
          <a:p>
            <a:pPr algn="ctr">
              <a:lnSpc>
                <a:spcPct val="115000"/>
              </a:lnSpc>
            </a:pPr>
            <a:r>
              <a:rPr sz="3600" b="1" i="0">
                <a:solidFill>
                  <a:srgbClr val="0284C7"/>
                </a:solidFill>
                <a:latin typeface="Calibri"/>
              </a:rPr>
              <a:t>0</a:t>
            </a:r>
          </a:p>
        </p:txBody>
      </p:sp>
      <p:sp>
        <p:nvSpPr>
          <p:cNvPr id="32" name="TextBox 31"/>
          <p:cNvSpPr txBox="1"/>
          <p:nvPr/>
        </p:nvSpPr>
        <p:spPr>
          <a:xfrm>
            <a:off x="6547104" y="5212080"/>
            <a:ext cx="2331720" cy="731520"/>
          </a:xfrm>
          <a:prstGeom prst="rect">
            <a:avLst/>
          </a:prstGeom>
          <a:noFill/>
        </p:spPr>
        <p:txBody>
          <a:bodyPr wrap="square" lIns="0" rIns="0" tIns="0" bIns="0" anchor="t">
            <a:spAutoFit/>
          </a:bodyPr>
          <a:lstStyle/>
          <a:p>
            <a:pPr algn="ctr">
              <a:lnSpc>
                <a:spcPct val="130000"/>
              </a:lnSpc>
            </a:pPr>
            <a:r>
              <a:rPr sz="1100" b="0" i="0">
                <a:solidFill>
                  <a:srgbClr val="0F172A"/>
                </a:solidFill>
                <a:latin typeface="Calibri"/>
              </a:rPr>
              <a:t>invented citations across</a:t>
            </a:r>
          </a:p>
          <a:p>
            <a:pPr algn="ctr">
              <a:lnSpc>
                <a:spcPct val="130000"/>
              </a:lnSpc>
            </a:pPr>
            <a:r>
              <a:rPr sz="1100" b="0" i="0">
                <a:solidFill>
                  <a:srgbClr val="0F172A"/>
                </a:solidFill>
                <a:latin typeface="Calibri"/>
              </a:rPr>
              <a:t>all hero queries</a:t>
            </a:r>
          </a:p>
        </p:txBody>
      </p:sp>
      <p:sp>
        <p:nvSpPr>
          <p:cNvPr id="33" name="Rectangle 32"/>
          <p:cNvSpPr/>
          <p:nvPr/>
        </p:nvSpPr>
        <p:spPr>
          <a:xfrm>
            <a:off x="9180576" y="4023360"/>
            <a:ext cx="2606040" cy="1965960"/>
          </a:xfrm>
          <a:prstGeom prst="rect">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80576" y="4023360"/>
            <a:ext cx="2606040" cy="7315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0576" y="4297680"/>
            <a:ext cx="2606040" cy="914400"/>
          </a:xfrm>
          <a:prstGeom prst="rect">
            <a:avLst/>
          </a:prstGeom>
          <a:noFill/>
        </p:spPr>
        <p:txBody>
          <a:bodyPr wrap="square" lIns="0" rIns="0" tIns="0" bIns="0" anchor="ctr">
            <a:spAutoFit/>
          </a:bodyPr>
          <a:lstStyle/>
          <a:p>
            <a:pPr algn="ctr">
              <a:lnSpc>
                <a:spcPct val="115000"/>
              </a:lnSpc>
            </a:pPr>
            <a:r>
              <a:rPr sz="3600" b="1" i="0">
                <a:solidFill>
                  <a:srgbClr val="0284C7"/>
                </a:solidFill>
                <a:latin typeface="Calibri"/>
              </a:rPr>
              <a:t>$0.001</a:t>
            </a:r>
          </a:p>
        </p:txBody>
      </p:sp>
      <p:sp>
        <p:nvSpPr>
          <p:cNvPr id="36" name="TextBox 35"/>
          <p:cNvSpPr txBox="1"/>
          <p:nvPr/>
        </p:nvSpPr>
        <p:spPr>
          <a:xfrm>
            <a:off x="9317736" y="5212080"/>
            <a:ext cx="2331720" cy="731520"/>
          </a:xfrm>
          <a:prstGeom prst="rect">
            <a:avLst/>
          </a:prstGeom>
          <a:noFill/>
        </p:spPr>
        <p:txBody>
          <a:bodyPr wrap="square" lIns="0" rIns="0" tIns="0" bIns="0" anchor="t">
            <a:spAutoFit/>
          </a:bodyPr>
          <a:lstStyle/>
          <a:p>
            <a:pPr algn="ctr">
              <a:lnSpc>
                <a:spcPct val="130000"/>
              </a:lnSpc>
            </a:pPr>
            <a:r>
              <a:rPr sz="1100" b="0" i="0">
                <a:solidFill>
                  <a:srgbClr val="0F172A"/>
                </a:solidFill>
                <a:latin typeface="Calibri"/>
              </a:rPr>
              <a:t>approximate LLM cost</a:t>
            </a:r>
          </a:p>
          <a:p>
            <a:pPr algn="ctr">
              <a:lnSpc>
                <a:spcPct val="130000"/>
              </a:lnSpc>
            </a:pPr>
            <a:r>
              <a:rPr sz="1100" b="0" i="0">
                <a:solidFill>
                  <a:srgbClr val="0F172A"/>
                </a:solidFill>
                <a:latin typeface="Calibri"/>
              </a:rPr>
              <a:t>per query at scale</a:t>
            </a:r>
          </a:p>
        </p:txBody>
      </p:sp>
      <p:sp>
        <p:nvSpPr>
          <p:cNvPr id="37" name="TextBox 36"/>
          <p:cNvSpPr txBox="1"/>
          <p:nvPr/>
        </p:nvSpPr>
        <p:spPr>
          <a:xfrm>
            <a:off x="868680" y="6263640"/>
            <a:ext cx="10515600" cy="320040"/>
          </a:xfrm>
          <a:prstGeom prst="rect">
            <a:avLst/>
          </a:prstGeom>
          <a:noFill/>
        </p:spPr>
        <p:txBody>
          <a:bodyPr wrap="square" lIns="0" rIns="0" tIns="0" bIns="0" anchor="t">
            <a:spAutoFit/>
          </a:bodyPr>
          <a:lstStyle/>
          <a:p>
            <a:pPr algn="ctr">
              <a:lnSpc>
                <a:spcPct val="115000"/>
              </a:lnSpc>
            </a:pPr>
            <a:r>
              <a:rPr sz="1200" b="0" i="1">
                <a:solidFill>
                  <a:srgbClr val="64748B"/>
                </a:solidFill>
                <a:latin typeface="Calibri"/>
              </a:rPr>
              <a:t>3-day build  ·  1 person  ·  every successful escalation grows the cache</a:t>
            </a:r>
          </a:p>
        </p:txBody>
      </p:sp>
      <p:sp>
        <p:nvSpPr>
          <p:cNvPr id="38" name="Rectangle 37"/>
          <p:cNvSpPr/>
          <p:nvPr/>
        </p:nvSpPr>
        <p:spPr>
          <a:xfrm>
            <a:off x="0" y="6565392"/>
            <a:ext cx="12191695"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6601968"/>
            <a:ext cx="7315200" cy="274320"/>
          </a:xfrm>
          <a:prstGeom prst="rect">
            <a:avLst/>
          </a:prstGeom>
          <a:noFill/>
        </p:spPr>
        <p:txBody>
          <a:bodyPr wrap="square" lIns="0" rIns="0" tIns="0" bIns="0" anchor="t">
            <a:spAutoFit/>
          </a:bodyPr>
          <a:lstStyle/>
          <a:p>
            <a:pPr algn="l">
              <a:lnSpc>
                <a:spcPct val="115000"/>
              </a:lnSpc>
            </a:pPr>
            <a:r>
              <a:rPr sz="1000" b="0" i="0">
                <a:solidFill>
                  <a:srgbClr val="64748B"/>
                </a:solidFill>
                <a:latin typeface="Calibri"/>
              </a:rPr>
              <a:t>MedCite  ·  Jubilant Pharma Hackathon  ·  abhi04-medcite.vercel.app</a:t>
            </a:r>
          </a:p>
        </p:txBody>
      </p:sp>
      <p:sp>
        <p:nvSpPr>
          <p:cNvPr id="40" name="TextBox 39"/>
          <p:cNvSpPr txBox="1"/>
          <p:nvPr/>
        </p:nvSpPr>
        <p:spPr>
          <a:xfrm>
            <a:off x="9601200" y="6601968"/>
            <a:ext cx="2103120" cy="274320"/>
          </a:xfrm>
          <a:prstGeom prst="rect">
            <a:avLst/>
          </a:prstGeom>
          <a:noFill/>
        </p:spPr>
        <p:txBody>
          <a:bodyPr wrap="square" lIns="0" rIns="0" tIns="0" bIns="0" anchor="t">
            <a:spAutoFit/>
          </a:bodyPr>
          <a:lstStyle/>
          <a:p>
            <a:pPr algn="r">
              <a:lnSpc>
                <a:spcPct val="115000"/>
              </a:lnSpc>
            </a:pPr>
            <a:r>
              <a:rPr sz="1000" b="0" i="0">
                <a:solidFill>
                  <a:srgbClr val="64748B"/>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164592"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7315200" cy="292608"/>
          </a:xfrm>
          <a:prstGeom prst="rect">
            <a:avLst/>
          </a:prstGeom>
          <a:noFill/>
        </p:spPr>
        <p:txBody>
          <a:bodyPr wrap="square" lIns="0" rIns="0" tIns="0" bIns="0" anchor="t">
            <a:spAutoFit/>
          </a:bodyPr>
          <a:lstStyle/>
          <a:p>
            <a:pPr algn="l">
              <a:lnSpc>
                <a:spcPct val="115000"/>
              </a:lnSpc>
            </a:pPr>
            <a:r>
              <a:rPr sz="1100" b="1" i="0">
                <a:solidFill>
                  <a:srgbClr val="0284C7"/>
                </a:solidFill>
                <a:latin typeface="Calibri"/>
              </a:rPr>
              <a:t>Q&amp;A TEASER</a:t>
            </a:r>
          </a:p>
        </p:txBody>
      </p:sp>
      <p:sp>
        <p:nvSpPr>
          <p:cNvPr id="4" name="TextBox 3"/>
          <p:cNvSpPr txBox="1"/>
          <p:nvPr/>
        </p:nvSpPr>
        <p:spPr>
          <a:xfrm>
            <a:off x="868680" y="777240"/>
            <a:ext cx="10515600" cy="640080"/>
          </a:xfrm>
          <a:prstGeom prst="rect">
            <a:avLst/>
          </a:prstGeom>
          <a:noFill/>
        </p:spPr>
        <p:txBody>
          <a:bodyPr wrap="square" lIns="0" rIns="0" tIns="0" bIns="0" anchor="t">
            <a:spAutoFit/>
          </a:bodyPr>
          <a:lstStyle/>
          <a:p>
            <a:pPr algn="l">
              <a:lnSpc>
                <a:spcPct val="115000"/>
              </a:lnSpc>
            </a:pPr>
            <a:r>
              <a:rPr sz="3200" b="1" i="0">
                <a:solidFill>
                  <a:srgbClr val="0F172A"/>
                </a:solidFill>
                <a:latin typeface="Calibri"/>
              </a:rPr>
              <a:t>Top three questions we expect.</a:t>
            </a:r>
          </a:p>
        </p:txBody>
      </p:sp>
      <p:sp>
        <p:nvSpPr>
          <p:cNvPr id="5" name="Rectangle 4"/>
          <p:cNvSpPr/>
          <p:nvPr/>
        </p:nvSpPr>
        <p:spPr>
          <a:xfrm>
            <a:off x="868680" y="1783080"/>
            <a:ext cx="502920"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502920" cy="502920"/>
          </a:xfrm>
          <a:prstGeom prst="rect">
            <a:avLst/>
          </a:prstGeom>
          <a:noFill/>
        </p:spPr>
        <p:txBody>
          <a:bodyPr wrap="square" lIns="0" rIns="0" tIns="0" bIns="0" anchor="ctr">
            <a:spAutoFit/>
          </a:bodyPr>
          <a:lstStyle/>
          <a:p>
            <a:pPr algn="ctr">
              <a:lnSpc>
                <a:spcPct val="115000"/>
              </a:lnSpc>
            </a:pPr>
            <a:r>
              <a:rPr sz="2000" b="1" i="0">
                <a:solidFill>
                  <a:srgbClr val="FFFFFF"/>
                </a:solidFill>
                <a:latin typeface="Calibri"/>
              </a:rPr>
              <a:t>Q</a:t>
            </a:r>
          </a:p>
        </p:txBody>
      </p:sp>
      <p:sp>
        <p:nvSpPr>
          <p:cNvPr id="7" name="TextBox 6"/>
          <p:cNvSpPr txBox="1"/>
          <p:nvPr/>
        </p:nvSpPr>
        <p:spPr>
          <a:xfrm>
            <a:off x="1554480" y="1801368"/>
            <a:ext cx="10058400" cy="411480"/>
          </a:xfrm>
          <a:prstGeom prst="rect">
            <a:avLst/>
          </a:prstGeom>
          <a:noFill/>
        </p:spPr>
        <p:txBody>
          <a:bodyPr wrap="square" lIns="0" rIns="0" tIns="0" bIns="0" anchor="t">
            <a:spAutoFit/>
          </a:bodyPr>
          <a:lstStyle/>
          <a:p>
            <a:pPr algn="l">
              <a:lnSpc>
                <a:spcPct val="115000"/>
              </a:lnSpc>
            </a:pPr>
            <a:r>
              <a:rPr sz="1600" b="1" i="0">
                <a:solidFill>
                  <a:srgbClr val="0F172A"/>
                </a:solidFill>
                <a:latin typeface="Calibri"/>
              </a:rPr>
              <a:t>"Why not just use GPT-4 with web search?"</a:t>
            </a:r>
          </a:p>
        </p:txBody>
      </p:sp>
      <p:sp>
        <p:nvSpPr>
          <p:cNvPr id="8" name="TextBox 7"/>
          <p:cNvSpPr txBox="1"/>
          <p:nvPr/>
        </p:nvSpPr>
        <p:spPr>
          <a:xfrm>
            <a:off x="1554480" y="2286000"/>
            <a:ext cx="10058400" cy="1005840"/>
          </a:xfrm>
          <a:prstGeom prst="rect">
            <a:avLst/>
          </a:prstGeom>
          <a:noFill/>
        </p:spPr>
        <p:txBody>
          <a:bodyPr wrap="square" lIns="0" rIns="0" tIns="0" bIns="0" anchor="t">
            <a:spAutoFit/>
          </a:bodyPr>
          <a:lstStyle/>
          <a:p>
            <a:pPr algn="l">
              <a:lnSpc>
                <a:spcPct val="145000"/>
              </a:lnSpc>
            </a:pPr>
            <a:r>
              <a:rPr sz="1200" b="0" i="0">
                <a:solidFill>
                  <a:srgbClr val="64748B"/>
                </a:solidFill>
                <a:latin typeface="Calibri"/>
              </a:rPr>
              <a:t>GPT-4 cites sources to justify what it already wrote. We retrieve sources first, then ask the LLM to summarize only those sources. Our LLM is structurally incapable of citing something it didn't read.</a:t>
            </a:r>
          </a:p>
        </p:txBody>
      </p:sp>
      <p:sp>
        <p:nvSpPr>
          <p:cNvPr id="9" name="Rectangle 8"/>
          <p:cNvSpPr/>
          <p:nvPr/>
        </p:nvSpPr>
        <p:spPr>
          <a:xfrm>
            <a:off x="868680" y="3291840"/>
            <a:ext cx="502920"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91840"/>
            <a:ext cx="502920" cy="502920"/>
          </a:xfrm>
          <a:prstGeom prst="rect">
            <a:avLst/>
          </a:prstGeom>
          <a:noFill/>
        </p:spPr>
        <p:txBody>
          <a:bodyPr wrap="square" lIns="0" rIns="0" tIns="0" bIns="0" anchor="ctr">
            <a:spAutoFit/>
          </a:bodyPr>
          <a:lstStyle/>
          <a:p>
            <a:pPr algn="ctr">
              <a:lnSpc>
                <a:spcPct val="115000"/>
              </a:lnSpc>
            </a:pPr>
            <a:r>
              <a:rPr sz="2000" b="1" i="0">
                <a:solidFill>
                  <a:srgbClr val="FFFFFF"/>
                </a:solidFill>
                <a:latin typeface="Calibri"/>
              </a:rPr>
              <a:t>Q</a:t>
            </a:r>
          </a:p>
        </p:txBody>
      </p:sp>
      <p:sp>
        <p:nvSpPr>
          <p:cNvPr id="11" name="TextBox 10"/>
          <p:cNvSpPr txBox="1"/>
          <p:nvPr/>
        </p:nvSpPr>
        <p:spPr>
          <a:xfrm>
            <a:off x="1554480" y="3310128"/>
            <a:ext cx="10058400" cy="411480"/>
          </a:xfrm>
          <a:prstGeom prst="rect">
            <a:avLst/>
          </a:prstGeom>
          <a:noFill/>
        </p:spPr>
        <p:txBody>
          <a:bodyPr wrap="square" lIns="0" rIns="0" tIns="0" bIns="0" anchor="t">
            <a:spAutoFit/>
          </a:bodyPr>
          <a:lstStyle/>
          <a:p>
            <a:pPr algn="l">
              <a:lnSpc>
                <a:spcPct val="115000"/>
              </a:lnSpc>
            </a:pPr>
            <a:r>
              <a:rPr sz="1600" b="1" i="0">
                <a:solidFill>
                  <a:srgbClr val="0F172A"/>
                </a:solidFill>
                <a:latin typeface="Calibri"/>
              </a:rPr>
              <a:t>"What stops the LLM from making things up about the sources you give it?"</a:t>
            </a:r>
          </a:p>
        </p:txBody>
      </p:sp>
      <p:sp>
        <p:nvSpPr>
          <p:cNvPr id="12" name="TextBox 11"/>
          <p:cNvSpPr txBox="1"/>
          <p:nvPr/>
        </p:nvSpPr>
        <p:spPr>
          <a:xfrm>
            <a:off x="1554480" y="3794760"/>
            <a:ext cx="10058400" cy="1005840"/>
          </a:xfrm>
          <a:prstGeom prst="rect">
            <a:avLst/>
          </a:prstGeom>
          <a:noFill/>
        </p:spPr>
        <p:txBody>
          <a:bodyPr wrap="square" lIns="0" rIns="0" tIns="0" bIns="0" anchor="t">
            <a:spAutoFit/>
          </a:bodyPr>
          <a:lstStyle/>
          <a:p>
            <a:pPr algn="l">
              <a:lnSpc>
                <a:spcPct val="145000"/>
              </a:lnSpc>
            </a:pPr>
            <a:r>
              <a:rPr sz="1200" b="0" i="0">
                <a:solidFill>
                  <a:srgbClr val="64748B"/>
                </a:solidFill>
                <a:latin typeface="Calibri"/>
              </a:rPr>
              <a:t>Two things. The synthesizer prompt forbids it — must output INSUFFICIENT_EVIDENCE if a chunk isn't relevant. And a different-vendor verifier (Llama 3.3 70B from Meta, via Groq) reads answer + sources and outputs {confidence, unsupported_claims}. Below 0.75 → abstain.</a:t>
            </a:r>
          </a:p>
        </p:txBody>
      </p:sp>
      <p:sp>
        <p:nvSpPr>
          <p:cNvPr id="13" name="Rectangle 12"/>
          <p:cNvSpPr/>
          <p:nvPr/>
        </p:nvSpPr>
        <p:spPr>
          <a:xfrm>
            <a:off x="868680" y="4800600"/>
            <a:ext cx="502920"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800600"/>
            <a:ext cx="502920" cy="502920"/>
          </a:xfrm>
          <a:prstGeom prst="rect">
            <a:avLst/>
          </a:prstGeom>
          <a:noFill/>
        </p:spPr>
        <p:txBody>
          <a:bodyPr wrap="square" lIns="0" rIns="0" tIns="0" bIns="0" anchor="ctr">
            <a:spAutoFit/>
          </a:bodyPr>
          <a:lstStyle/>
          <a:p>
            <a:pPr algn="ctr">
              <a:lnSpc>
                <a:spcPct val="115000"/>
              </a:lnSpc>
            </a:pPr>
            <a:r>
              <a:rPr sz="2000" b="1" i="0">
                <a:solidFill>
                  <a:srgbClr val="FFFFFF"/>
                </a:solidFill>
                <a:latin typeface="Calibri"/>
              </a:rPr>
              <a:t>Q</a:t>
            </a:r>
          </a:p>
        </p:txBody>
      </p:sp>
      <p:sp>
        <p:nvSpPr>
          <p:cNvPr id="15" name="TextBox 14"/>
          <p:cNvSpPr txBox="1"/>
          <p:nvPr/>
        </p:nvSpPr>
        <p:spPr>
          <a:xfrm>
            <a:off x="1554480" y="4818888"/>
            <a:ext cx="10058400" cy="411480"/>
          </a:xfrm>
          <a:prstGeom prst="rect">
            <a:avLst/>
          </a:prstGeom>
          <a:noFill/>
        </p:spPr>
        <p:txBody>
          <a:bodyPr wrap="square" lIns="0" rIns="0" tIns="0" bIns="0" anchor="t">
            <a:spAutoFit/>
          </a:bodyPr>
          <a:lstStyle/>
          <a:p>
            <a:pPr algn="l">
              <a:lnSpc>
                <a:spcPct val="115000"/>
              </a:lnSpc>
            </a:pPr>
            <a:r>
              <a:rPr sz="1600" b="1" i="0">
                <a:solidFill>
                  <a:srgbClr val="0F172A"/>
                </a:solidFill>
                <a:latin typeface="Calibri"/>
              </a:rPr>
              <a:t>"Is this just RAG?"</a:t>
            </a:r>
          </a:p>
        </p:txBody>
      </p:sp>
      <p:sp>
        <p:nvSpPr>
          <p:cNvPr id="16" name="TextBox 15"/>
          <p:cNvSpPr txBox="1"/>
          <p:nvPr/>
        </p:nvSpPr>
        <p:spPr>
          <a:xfrm>
            <a:off x="1554480" y="5303520"/>
            <a:ext cx="10058400" cy="1005840"/>
          </a:xfrm>
          <a:prstGeom prst="rect">
            <a:avLst/>
          </a:prstGeom>
          <a:noFill/>
        </p:spPr>
        <p:txBody>
          <a:bodyPr wrap="square" lIns="0" rIns="0" tIns="0" bIns="0" anchor="t">
            <a:spAutoFit/>
          </a:bodyPr>
          <a:lstStyle/>
          <a:p>
            <a:pPr algn="l">
              <a:lnSpc>
                <a:spcPct val="145000"/>
              </a:lnSpc>
            </a:pPr>
            <a:r>
              <a:rPr sz="1200" b="0" i="0">
                <a:solidFill>
                  <a:srgbClr val="64748B"/>
                </a:solidFill>
                <a:latin typeface="Calibri"/>
              </a:rPr>
              <a:t>Yes — and "just RAG" is the correct architecture. The novelty is (a) the cross-vendor verifier as a hard safety gate, (b) the self-improvement write-back loop, and (c) the explicit abstention behavior. Most RAG demos still let the LLM speak when retrieval was weak. We don't.</a:t>
            </a:r>
          </a:p>
        </p:txBody>
      </p:sp>
      <p:sp>
        <p:nvSpPr>
          <p:cNvPr id="17" name="TextBox 16"/>
          <p:cNvSpPr txBox="1"/>
          <p:nvPr/>
        </p:nvSpPr>
        <p:spPr>
          <a:xfrm>
            <a:off x="868680" y="6355080"/>
            <a:ext cx="10515600" cy="320040"/>
          </a:xfrm>
          <a:prstGeom prst="rect">
            <a:avLst/>
          </a:prstGeom>
          <a:noFill/>
        </p:spPr>
        <p:txBody>
          <a:bodyPr wrap="square" lIns="0" rIns="0" tIns="0" bIns="0" anchor="t">
            <a:spAutoFit/>
          </a:bodyPr>
          <a:lstStyle/>
          <a:p>
            <a:pPr algn="ctr">
              <a:lnSpc>
                <a:spcPct val="115000"/>
              </a:lnSpc>
            </a:pPr>
            <a:r>
              <a:rPr sz="1100" b="0" i="1">
                <a:solidFill>
                  <a:srgbClr val="64748B"/>
                </a:solidFill>
                <a:latin typeface="Calibri"/>
              </a:rPr>
              <a:t>Full Q&amp;A bank: 9 rehearsed answers in PITCH.md §9</a:t>
            </a:r>
          </a:p>
        </p:txBody>
      </p:sp>
      <p:sp>
        <p:nvSpPr>
          <p:cNvPr id="18" name="Rectangle 17"/>
          <p:cNvSpPr/>
          <p:nvPr/>
        </p:nvSpPr>
        <p:spPr>
          <a:xfrm>
            <a:off x="0" y="6565392"/>
            <a:ext cx="12191695" cy="36576"/>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601968"/>
            <a:ext cx="7315200" cy="274320"/>
          </a:xfrm>
          <a:prstGeom prst="rect">
            <a:avLst/>
          </a:prstGeom>
          <a:noFill/>
        </p:spPr>
        <p:txBody>
          <a:bodyPr wrap="square" lIns="0" rIns="0" tIns="0" bIns="0" anchor="t">
            <a:spAutoFit/>
          </a:bodyPr>
          <a:lstStyle/>
          <a:p>
            <a:pPr algn="l">
              <a:lnSpc>
                <a:spcPct val="115000"/>
              </a:lnSpc>
            </a:pPr>
            <a:r>
              <a:rPr sz="1000" b="0" i="0">
                <a:solidFill>
                  <a:srgbClr val="64748B"/>
                </a:solidFill>
                <a:latin typeface="Calibri"/>
              </a:rPr>
              <a:t>MedCite  ·  Jubilant Pharma Hackathon  ·  abhi04-medcite.vercel.app</a:t>
            </a:r>
          </a:p>
        </p:txBody>
      </p:sp>
      <p:sp>
        <p:nvSpPr>
          <p:cNvPr id="20" name="TextBox 19"/>
          <p:cNvSpPr txBox="1"/>
          <p:nvPr/>
        </p:nvSpPr>
        <p:spPr>
          <a:xfrm>
            <a:off x="9601200" y="6601968"/>
            <a:ext cx="2103120" cy="274320"/>
          </a:xfrm>
          <a:prstGeom prst="rect">
            <a:avLst/>
          </a:prstGeom>
          <a:noFill/>
        </p:spPr>
        <p:txBody>
          <a:bodyPr wrap="square" lIns="0" rIns="0" tIns="0" bIns="0" anchor="t">
            <a:spAutoFit/>
          </a:bodyPr>
          <a:lstStyle/>
          <a:p>
            <a:pPr algn="r">
              <a:lnSpc>
                <a:spcPct val="115000"/>
              </a:lnSpc>
            </a:pPr>
            <a:r>
              <a:rPr sz="1000" b="0" i="0">
                <a:solidFill>
                  <a:srgbClr val="64748B"/>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65760" cy="6858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868680"/>
            <a:ext cx="10058400" cy="411480"/>
          </a:xfrm>
          <a:prstGeom prst="rect">
            <a:avLst/>
          </a:prstGeom>
          <a:noFill/>
        </p:spPr>
        <p:txBody>
          <a:bodyPr wrap="square" lIns="0" rIns="0" tIns="0" bIns="0" anchor="t">
            <a:spAutoFit/>
          </a:bodyPr>
          <a:lstStyle/>
          <a:p>
            <a:pPr algn="l">
              <a:lnSpc>
                <a:spcPct val="115000"/>
              </a:lnSpc>
            </a:pPr>
            <a:r>
              <a:rPr sz="1200" b="1" i="0">
                <a:solidFill>
                  <a:srgbClr val="0284C7"/>
                </a:solidFill>
                <a:latin typeface="Calibri"/>
              </a:rPr>
              <a:t>CLOSING</a:t>
            </a:r>
          </a:p>
        </p:txBody>
      </p:sp>
      <p:sp>
        <p:nvSpPr>
          <p:cNvPr id="4" name="TextBox 3"/>
          <p:cNvSpPr txBox="1"/>
          <p:nvPr/>
        </p:nvSpPr>
        <p:spPr>
          <a:xfrm>
            <a:off x="868680" y="1325880"/>
            <a:ext cx="10789920" cy="2011680"/>
          </a:xfrm>
          <a:prstGeom prst="rect">
            <a:avLst/>
          </a:prstGeom>
          <a:noFill/>
        </p:spPr>
        <p:txBody>
          <a:bodyPr wrap="square" lIns="0" rIns="0" tIns="0" bIns="0" anchor="t">
            <a:spAutoFit/>
          </a:bodyPr>
          <a:lstStyle/>
          <a:p>
            <a:pPr algn="l">
              <a:lnSpc>
                <a:spcPct val="105000"/>
              </a:lnSpc>
            </a:pPr>
            <a:r>
              <a:rPr sz="6000" b="1" i="0">
                <a:solidFill>
                  <a:srgbClr val="0F172A"/>
                </a:solidFill>
                <a:latin typeface="Calibri"/>
              </a:rPr>
              <a:t>This isn't a chatbot.</a:t>
            </a:r>
          </a:p>
          <a:p>
            <a:pPr algn="l">
              <a:lnSpc>
                <a:spcPct val="105000"/>
              </a:lnSpc>
            </a:pPr>
            <a:r>
              <a:rPr sz="6000" b="1" i="0">
                <a:solidFill>
                  <a:srgbClr val="0F172A"/>
                </a:solidFill>
                <a:latin typeface="Calibri"/>
              </a:rPr>
              <a:t>It's a clinical tool.</a:t>
            </a:r>
          </a:p>
        </p:txBody>
      </p:sp>
      <p:sp>
        <p:nvSpPr>
          <p:cNvPr id="5" name="TextBox 4"/>
          <p:cNvSpPr txBox="1"/>
          <p:nvPr/>
        </p:nvSpPr>
        <p:spPr>
          <a:xfrm>
            <a:off x="868680" y="3611880"/>
            <a:ext cx="10515600" cy="1371600"/>
          </a:xfrm>
          <a:prstGeom prst="rect">
            <a:avLst/>
          </a:prstGeom>
          <a:noFill/>
        </p:spPr>
        <p:txBody>
          <a:bodyPr wrap="square" lIns="0" rIns="0" tIns="0" bIns="0" anchor="t">
            <a:spAutoFit/>
          </a:bodyPr>
          <a:lstStyle/>
          <a:p>
            <a:pPr algn="l">
              <a:lnSpc>
                <a:spcPct val="140000"/>
              </a:lnSpc>
            </a:pPr>
            <a:r>
              <a:rPr sz="2200" b="0" i="0">
                <a:solidFill>
                  <a:srgbClr val="0F172A"/>
                </a:solidFill>
                <a:latin typeface="Calibri"/>
              </a:rPr>
              <a:t>It cites every claim, it verifies with a second model from a different company, and when it doesn't know — it says so.</a:t>
            </a:r>
          </a:p>
        </p:txBody>
      </p:sp>
      <p:sp>
        <p:nvSpPr>
          <p:cNvPr id="6" name="TextBox 5"/>
          <p:cNvSpPr txBox="1"/>
          <p:nvPr/>
        </p:nvSpPr>
        <p:spPr>
          <a:xfrm>
            <a:off x="868680" y="5029200"/>
            <a:ext cx="10515600" cy="457200"/>
          </a:xfrm>
          <a:prstGeom prst="rect">
            <a:avLst/>
          </a:prstGeom>
          <a:noFill/>
        </p:spPr>
        <p:txBody>
          <a:bodyPr wrap="square" lIns="0" rIns="0" tIns="0" bIns="0" anchor="t">
            <a:spAutoFit/>
          </a:bodyPr>
          <a:lstStyle/>
          <a:p>
            <a:pPr algn="l">
              <a:lnSpc>
                <a:spcPct val="115000"/>
              </a:lnSpc>
            </a:pPr>
            <a:r>
              <a:rPr sz="2000" b="1" i="1">
                <a:solidFill>
                  <a:srgbClr val="0284C7"/>
                </a:solidFill>
                <a:latin typeface="Calibri"/>
              </a:rPr>
              <a:t>That's the only safe way to put an LLM in front of a doctor.</a:t>
            </a:r>
          </a:p>
        </p:txBody>
      </p:sp>
      <p:sp>
        <p:nvSpPr>
          <p:cNvPr id="7" name="Rectangle 6"/>
          <p:cNvSpPr/>
          <p:nvPr/>
        </p:nvSpPr>
        <p:spPr>
          <a:xfrm>
            <a:off x="868680" y="5760720"/>
            <a:ext cx="10515600" cy="6400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760720"/>
            <a:ext cx="10515600" cy="640080"/>
          </a:xfrm>
          <a:prstGeom prst="rect">
            <a:avLst/>
          </a:prstGeom>
          <a:noFill/>
        </p:spPr>
        <p:txBody>
          <a:bodyPr wrap="square" lIns="0" rIns="0" tIns="0" bIns="0" anchor="ctr">
            <a:spAutoFit/>
          </a:bodyPr>
          <a:lstStyle/>
          <a:p>
            <a:pPr algn="ctr">
              <a:lnSpc>
                <a:spcPct val="115000"/>
              </a:lnSpc>
            </a:pPr>
            <a:r>
              <a:rPr sz="1600" b="1" i="0">
                <a:solidFill>
                  <a:srgbClr val="FFFFFF"/>
                </a:solidFill>
                <a:latin typeface="Calibri"/>
              </a:rPr>
              <a:t>MedCite  ·  abhi04-medcite.vercel.app  ·  github.com/Abhishek0489/medCite</a:t>
            </a:r>
          </a:p>
        </p:txBody>
      </p:sp>
      <p:sp>
        <p:nvSpPr>
          <p:cNvPr id="9" name="TextBox 8"/>
          <p:cNvSpPr txBox="1"/>
          <p:nvPr/>
        </p:nvSpPr>
        <p:spPr>
          <a:xfrm>
            <a:off x="868680" y="6537960"/>
            <a:ext cx="10515600" cy="274320"/>
          </a:xfrm>
          <a:prstGeom prst="rect">
            <a:avLst/>
          </a:prstGeom>
          <a:noFill/>
        </p:spPr>
        <p:txBody>
          <a:bodyPr wrap="square" lIns="0" rIns="0" tIns="0" bIns="0" anchor="t">
            <a:spAutoFit/>
          </a:bodyPr>
          <a:lstStyle/>
          <a:p>
            <a:pPr algn="ctr">
              <a:lnSpc>
                <a:spcPct val="115000"/>
              </a:lnSpc>
            </a:pPr>
            <a:r>
              <a:rPr sz="1200" b="0" i="1">
                <a:solidFill>
                  <a:srgbClr val="64748B"/>
                </a:solidFill>
                <a:latin typeface="Calibri"/>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